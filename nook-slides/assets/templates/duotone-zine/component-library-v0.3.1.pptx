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C01 / GIANT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巨型标题页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少字 / 大字 / 强入口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P01 / GIANT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78824" y="1472184"/>
            <a:ext cx="4434840" cy="534924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3960" y="1417320"/>
            <a:ext cx="4434840" cy="534924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25128" y="1709928"/>
            <a:ext cx="4032503" cy="469087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840" y="156362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IMG-A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6473951"/>
            <a:ext cx="39227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竖版主图槽 4:5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481328"/>
            <a:ext cx="72237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82000"/>
              </a:lnSpc>
            </a:pPr>
            <a:r>
              <a:rPr sz="5200" b="1">
                <a:solidFill>
                  <a:srgbClr val="171713"/>
                </a:solidFill>
                <a:latin typeface="思源宋体 CN Heavy"/>
              </a:rPr>
              <a:t>可编辑</a:t>
            </a:r>
          </a:p>
          <a:p>
            <a:pPr>
              <a:lnSpc>
                <a:spcPct val="82000"/>
              </a:lnSpc>
            </a:pPr>
            <a:r>
              <a:rPr sz="5200" b="1">
                <a:solidFill>
                  <a:srgbClr val="171713"/>
                </a:solidFill>
                <a:latin typeface="思源宋体 CN Heavy"/>
              </a:rPr>
              <a:t>PPT</a:t>
            </a:r>
          </a:p>
          <a:p>
            <a:pPr>
              <a:lnSpc>
                <a:spcPct val="82000"/>
              </a:lnSpc>
            </a:pPr>
            <a:r>
              <a:rPr sz="5200" b="1">
                <a:solidFill>
                  <a:srgbClr val="171713"/>
                </a:solidFill>
                <a:latin typeface="思源宋体 CN Heavy"/>
              </a:rPr>
              <a:t>不是截图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17720"/>
            <a:ext cx="1005840" cy="4572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92040"/>
            <a:ext cx="56692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000" b="0">
                <a:solidFill>
                  <a:srgbClr val="5E5A51"/>
                </a:solidFill>
                <a:latin typeface="霞鹜文楷"/>
              </a:rPr>
              <a:t>它是一套能被拆开、移动、重排、再编辑的出版组件。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适用：封面 / 章节页 / 大观点开场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C02 /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一句话判断页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一句话占主导，不写小作文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P02 / ONE SENTENCE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1673352"/>
            <a:ext cx="12161520" cy="306324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12161520" cy="3063240"/>
          </a:xfrm>
          <a:prstGeom prst="rect">
            <a:avLst/>
          </a:prstGeom>
          <a:solidFill>
            <a:srgbClr val="243D86"/>
          </a:solidFill>
          <a:ln w="304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65836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86000"/>
              </a:lnSpc>
            </a:pPr>
            <a:r>
              <a:rPr sz="4300" b="1">
                <a:solidFill>
                  <a:srgbClr val="FFFFFF"/>
                </a:solidFill>
                <a:latin typeface="思源宋体 CN Heavy"/>
              </a:rPr>
              <a:t>模型不能临场</a:t>
            </a:r>
          </a:p>
          <a:p>
            <a:pPr>
              <a:lnSpc>
                <a:spcPct val="86000"/>
              </a:lnSpc>
            </a:pPr>
            <a:r>
              <a:rPr sz="4300" b="1">
                <a:solidFill>
                  <a:srgbClr val="FFFFFF"/>
                </a:solidFill>
                <a:latin typeface="思源宋体 CN Heavy"/>
              </a:rPr>
              <a:t>发明页面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611880"/>
            <a:ext cx="795527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000" b="0">
                <a:solidFill>
                  <a:srgbClr val="FFFFFF"/>
                </a:solidFill>
                <a:latin typeface="霞鹜文楷"/>
              </a:rPr>
              <a:t>它只能从组件白名单里选择、组合、替换内容。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5560" y="1993392"/>
            <a:ext cx="201168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50424" y="2061972"/>
            <a:ext cx="19019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CORE 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743200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深底白字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最多两行标题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适用：结论页 / 转场页 / 警示页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C03 / BIG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大数字页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数字是主角，文字只解释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P03 / BIG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600" b="1">
                <a:solidFill>
                  <a:srgbClr val="E76186"/>
                </a:solidFill>
                <a:latin typeface="Bodoni 72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600" b="1">
                <a:solidFill>
                  <a:srgbClr val="171713"/>
                </a:solidFill>
                <a:latin typeface="Bodoni 72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20116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800" b="1">
                <a:solidFill>
                  <a:srgbClr val="171713"/>
                </a:solidFill>
                <a:latin typeface="思源宋体 CN Heavy"/>
              </a:rPr>
              <a:t>类组件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521208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000" b="0">
                <a:solidFill>
                  <a:srgbClr val="5E5A51"/>
                </a:solidFill>
                <a:latin typeface="霞鹜文楷"/>
              </a:rPr>
              <a:t>第一套组件库不追求多，追求少而稳定。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1092" y="1879092"/>
            <a:ext cx="2011680" cy="265176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011680" cy="2651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171713"/>
                </a:solidFill>
                <a:latin typeface="Bodoni 72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788920"/>
            <a:ext cx="822960" cy="4572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171713"/>
                </a:solidFill>
                <a:latin typeface="思源宋体 CN Heavy"/>
              </a:rPr>
              <a:t>图片槽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50" b="0">
                <a:solidFill>
                  <a:srgbClr val="5E5A51"/>
                </a:solidFill>
                <a:latin typeface="霞鹜文楷"/>
              </a:rPr>
              <a:t>多图页面的核心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4252" y="1879092"/>
            <a:ext cx="2011680" cy="265176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828800"/>
            <a:ext cx="2011680" cy="2651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171713"/>
                </a:solidFill>
                <a:latin typeface="Bodoni 72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788920"/>
            <a:ext cx="822960" cy="4572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171713"/>
                </a:solidFill>
                <a:latin typeface="思源宋体 CN Heavy"/>
              </a:rPr>
              <a:t>文本框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50" b="0">
                <a:solidFill>
                  <a:srgbClr val="5E5A51"/>
                </a:solidFill>
                <a:latin typeface="霞鹜文楷"/>
              </a:rPr>
              <a:t>少字大字的基础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97412" y="1879092"/>
            <a:ext cx="2011680" cy="265176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0" y="1828800"/>
            <a:ext cx="2011680" cy="2651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4828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171713"/>
                </a:solidFill>
                <a:latin typeface="Bodoni 72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75720" y="2788920"/>
            <a:ext cx="822960" cy="4572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7572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171713"/>
                </a:solidFill>
                <a:latin typeface="思源宋体 CN Heavy"/>
              </a:rPr>
              <a:t>结构图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50" b="0">
                <a:solidFill>
                  <a:srgbClr val="5E5A51"/>
                </a:solidFill>
                <a:latin typeface="霞鹜文楷"/>
              </a:rPr>
              <a:t>时间轴、循环、层级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适用：数据页 / 进度页 / 章节摘要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C04 / PROCESS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流程卡组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可复制的步骤文本框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P04 / PROCESS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3" y="1929384"/>
            <a:ext cx="2788920" cy="388620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2788920" cy="3886200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2788920" cy="658368"/>
          </a:xfrm>
          <a:prstGeom prst="rect">
            <a:avLst/>
          </a:prstGeom>
          <a:solidFill>
            <a:srgbClr val="3153B8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800" b="1">
                <a:solidFill>
                  <a:srgbClr val="FFFFFF"/>
                </a:solidFill>
                <a:latin typeface="Bodoni 72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840" b="0">
                <a:solidFill>
                  <a:srgbClr val="FFFFFF"/>
                </a:solidFill>
                <a:latin typeface="Consolas"/>
              </a:rPr>
              <a:t>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100" b="1">
                <a:solidFill>
                  <a:srgbClr val="171713"/>
                </a:solidFill>
                <a:latin typeface="思源宋体 CN Heavy"/>
              </a:rPr>
              <a:t>收集材料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383280"/>
            <a:ext cx="1005840" cy="4572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文本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图片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品牌资产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9663" y="1929384"/>
            <a:ext cx="2788920" cy="388620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874519"/>
            <a:ext cx="2788920" cy="3886200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1874519"/>
            <a:ext cx="2788920" cy="658368"/>
          </a:xfrm>
          <a:prstGeom prst="rect">
            <a:avLst/>
          </a:prstGeom>
          <a:solidFill>
            <a:srgbClr val="E76186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800" b="1">
                <a:solidFill>
                  <a:srgbClr val="FFFFFF"/>
                </a:solidFill>
                <a:latin typeface="Bodoni 72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840" b="0">
                <a:solidFill>
                  <a:srgbClr val="FFFFFF"/>
                </a:solidFill>
                <a:latin typeface="Consolas"/>
              </a:rPr>
              <a:t>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100" b="1">
                <a:solidFill>
                  <a:srgbClr val="171713"/>
                </a:solidFill>
                <a:latin typeface="思源宋体 CN Heavy"/>
              </a:rPr>
              <a:t>拆成组件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3383280"/>
            <a:ext cx="1005840" cy="4572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内容压缩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图片入槽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字体检查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7224" y="1929384"/>
            <a:ext cx="2788920" cy="388620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74519"/>
            <a:ext cx="2788920" cy="3886200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1874519"/>
            <a:ext cx="2788920" cy="658368"/>
          </a:xfrm>
          <a:prstGeom prst="rect">
            <a:avLst/>
          </a:prstGeom>
          <a:solidFill>
            <a:srgbClr val="E8B13F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800" b="1">
                <a:solidFill>
                  <a:srgbClr val="171713"/>
                </a:solidFill>
                <a:latin typeface="Bodoni 72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840" b="0">
                <a:solidFill>
                  <a:srgbClr val="171713"/>
                </a:solidFill>
                <a:latin typeface="Consolas"/>
              </a:rPr>
              <a:t>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100" b="1">
                <a:solidFill>
                  <a:srgbClr val="171713"/>
                </a:solidFill>
                <a:latin typeface="思源宋体 CN Heavy"/>
              </a:rPr>
              <a:t>拼成页面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4112" y="3383280"/>
            <a:ext cx="1005840" cy="4572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选择版式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替换文案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输出 PPT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44784" y="1929384"/>
            <a:ext cx="2788920" cy="3886200"/>
          </a:xfrm>
          <a:prstGeom prst="rect">
            <a:avLst/>
          </a:prstGeom>
          <a:solidFill>
            <a:srgbClr val="171713"/>
          </a:solidFill>
          <a:ln w="12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9919" y="1874519"/>
            <a:ext cx="2788920" cy="3886200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19" y="1874519"/>
            <a:ext cx="2788920" cy="658368"/>
          </a:xfrm>
          <a:prstGeom prst="rect">
            <a:avLst/>
          </a:prstGeom>
          <a:solidFill>
            <a:srgbClr val="171713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1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800" b="1">
                <a:solidFill>
                  <a:srgbClr val="FFFFFF"/>
                </a:solidFill>
                <a:latin typeface="Bodoni 72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5004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840" b="0">
                <a:solidFill>
                  <a:srgbClr val="FFFFFF"/>
                </a:solidFill>
                <a:latin typeface="Consolas"/>
              </a:rPr>
              <a:t>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100" b="1">
                <a:solidFill>
                  <a:srgbClr val="171713"/>
                </a:solidFill>
                <a:latin typeface="思源宋体 CN Heavy"/>
              </a:rPr>
              <a:t>人工审美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91672" y="3383280"/>
            <a:ext cx="1005840" cy="45720"/>
          </a:xfrm>
          <a:prstGeom prst="rect">
            <a:avLst/>
          </a:prstGeom>
          <a:solidFill>
            <a:srgbClr val="171713"/>
          </a:solidFill>
          <a:ln w="12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59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可编辑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不出框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5E5A51"/>
                </a:solidFill>
                <a:latin typeface="霞鹜文楷"/>
              </a:rPr>
              <a:t>· 风格统一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适用：线性流程 / 方法论步骤 / 操作说明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C05 /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时间轴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横向主轴 + 事件卡片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P05 /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069080"/>
            <a:ext cx="11978640" cy="0"/>
          </a:xfrm>
          <a:prstGeom prst="line">
            <a:avLst/>
          </a:prstGeom>
          <a:ln w="114300">
            <a:solidFill>
              <a:srgbClr val="315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" y="4187952"/>
            <a:ext cx="11978640" cy="0"/>
          </a:xfrm>
          <a:prstGeom prst="line">
            <a:avLst/>
          </a:prstGeom>
          <a:ln w="50800">
            <a:solidFill>
              <a:srgbClr val="E761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4984" y="111556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E76186"/>
                </a:solidFill>
                <a:latin typeface="Bodoni 72"/>
              </a:rPr>
              <a:t>1920s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05156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171713"/>
                </a:solidFill>
                <a:latin typeface="Bodoni 72"/>
              </a:rPr>
              <a:t>1920s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94560"/>
            <a:ext cx="2286000" cy="114300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148840"/>
            <a:ext cx="2286000" cy="1143000"/>
          </a:xfrm>
          <a:prstGeom prst="rect">
            <a:avLst/>
          </a:prstGeom>
          <a:solidFill>
            <a:srgbClr val="171713"/>
          </a:solidFill>
          <a:ln w="2286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148840"/>
            <a:ext cx="2286000" cy="347472"/>
          </a:xfrm>
          <a:prstGeom prst="rect">
            <a:avLst/>
          </a:prstGeom>
          <a:solidFill>
            <a:srgbClr val="3153B8"/>
          </a:solidFill>
          <a:ln w="2032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22199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思源宋体 CN Heavy"/>
              </a:rPr>
              <a:t>源头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63347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小众出版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手作表达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3291840"/>
            <a:ext cx="0" cy="758951"/>
          </a:xfrm>
          <a:prstGeom prst="line">
            <a:avLst/>
          </a:prstGeom>
          <a:ln w="27940">
            <a:solidFill>
              <a:srgbClr val="17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26864" y="70408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4600" b="1">
                <a:solidFill>
                  <a:srgbClr val="E76186"/>
                </a:solidFill>
                <a:latin typeface="Bodoni 72"/>
              </a:rPr>
              <a:t>1976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008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4600" b="1">
                <a:solidFill>
                  <a:srgbClr val="171713"/>
                </a:solidFill>
                <a:latin typeface="Bodoni 72"/>
              </a:rPr>
              <a:t>1976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83080"/>
            <a:ext cx="2286000" cy="114300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737360"/>
            <a:ext cx="2286000" cy="1143000"/>
          </a:xfrm>
          <a:prstGeom prst="rect">
            <a:avLst/>
          </a:prstGeom>
          <a:solidFill>
            <a:srgbClr val="171713"/>
          </a:solidFill>
          <a:ln w="2286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737360"/>
            <a:ext cx="2286000" cy="347472"/>
          </a:xfrm>
          <a:prstGeom prst="rect">
            <a:avLst/>
          </a:prstGeom>
          <a:solidFill>
            <a:srgbClr val="E8B13F"/>
          </a:solidFill>
          <a:ln w="2032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81051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171713"/>
                </a:solidFill>
                <a:latin typeface="思源宋体 CN Heavy"/>
              </a:rPr>
              <a:t>浪潮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22199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ZINE 文化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开始扩散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6440" y="2880360"/>
            <a:ext cx="0" cy="1170431"/>
          </a:xfrm>
          <a:prstGeom prst="line">
            <a:avLst/>
          </a:prstGeom>
          <a:ln w="27940">
            <a:solidFill>
              <a:srgbClr val="17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38744" y="3785616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4600" b="1">
                <a:solidFill>
                  <a:srgbClr val="E76186"/>
                </a:solidFill>
                <a:latin typeface="Bodoni 72"/>
              </a:rPr>
              <a:t>1991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2160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4600" b="1">
                <a:solidFill>
                  <a:srgbClr val="171713"/>
                </a:solidFill>
                <a:latin typeface="Bodoni 72"/>
              </a:rPr>
              <a:t>1991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864607"/>
            <a:ext cx="2286000" cy="114300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4818888"/>
            <a:ext cx="2286000" cy="1143000"/>
          </a:xfrm>
          <a:prstGeom prst="rect">
            <a:avLst/>
          </a:prstGeom>
          <a:solidFill>
            <a:srgbClr val="171713"/>
          </a:solidFill>
          <a:ln w="2286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4818888"/>
            <a:ext cx="2286000" cy="347472"/>
          </a:xfrm>
          <a:prstGeom prst="rect">
            <a:avLst/>
          </a:prstGeom>
          <a:solidFill>
            <a:srgbClr val="E76186"/>
          </a:solidFill>
          <a:ln w="2032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892040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思源宋体 CN Heavy"/>
              </a:rPr>
              <a:t>转折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1" y="5303520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社群、音乐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与女性主义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418319" y="4050791"/>
            <a:ext cx="0" cy="1911097"/>
          </a:xfrm>
          <a:prstGeom prst="line">
            <a:avLst/>
          </a:prstGeom>
          <a:ln w="27940">
            <a:solidFill>
              <a:srgbClr val="17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256264" y="97840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E76186"/>
                </a:solidFill>
                <a:latin typeface="Bodoni 72"/>
              </a:rPr>
              <a:t>2010s+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91440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400" b="1">
                <a:solidFill>
                  <a:srgbClr val="171713"/>
                </a:solidFill>
                <a:latin typeface="Bodoni 72"/>
              </a:rPr>
              <a:t>2010s+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38560" y="2057400"/>
            <a:ext cx="2286000" cy="114300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92840" y="2011680"/>
            <a:ext cx="2286000" cy="1143000"/>
          </a:xfrm>
          <a:prstGeom prst="rect">
            <a:avLst/>
          </a:prstGeom>
          <a:solidFill>
            <a:srgbClr val="171713"/>
          </a:solidFill>
          <a:ln w="2286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292840" y="2011680"/>
            <a:ext cx="2286000" cy="347472"/>
          </a:xfrm>
          <a:prstGeom prst="rect">
            <a:avLst/>
          </a:prstGeom>
          <a:solidFill>
            <a:srgbClr val="3153B8"/>
          </a:solidFill>
          <a:ln w="2032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0" y="208483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思源宋体 CN Heavy"/>
              </a:rPr>
              <a:t>复兴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57432" y="249631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书展、馆藏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霞鹜文楷"/>
              </a:rPr>
              <a:t>与独立出版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2435840" y="3154680"/>
            <a:ext cx="0" cy="896111"/>
          </a:xfrm>
          <a:prstGeom prst="line">
            <a:avLst/>
          </a:prstGeom>
          <a:ln w="27940">
            <a:solidFill>
              <a:srgbClr val="17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适用：历史线 / 项目里程碑 / 版本演进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C06 /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循环图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3-4 步循环，不做复杂飞轮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P06 /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38160" y="2148840"/>
            <a:ext cx="1417320" cy="1252728"/>
          </a:xfrm>
          <a:prstGeom prst="line">
            <a:avLst/>
          </a:prstGeom>
          <a:ln w="38100">
            <a:solidFill>
              <a:srgbClr val="315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4572000"/>
            <a:ext cx="1645920" cy="1170432"/>
          </a:xfrm>
          <a:prstGeom prst="line">
            <a:avLst/>
          </a:prstGeom>
          <a:ln w="38100">
            <a:solidFill>
              <a:srgbClr val="E761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5029200" y="4572000"/>
            <a:ext cx="1417320" cy="1188720"/>
          </a:xfrm>
          <a:prstGeom prst="line">
            <a:avLst/>
          </a:prstGeom>
          <a:ln w="38100">
            <a:solidFill>
              <a:srgbClr val="E8B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074920" y="2148840"/>
            <a:ext cx="1371600" cy="1234440"/>
          </a:xfrm>
          <a:prstGeom prst="line">
            <a:avLst/>
          </a:prstGeom>
          <a:ln w="38100">
            <a:solidFill>
              <a:srgbClr val="17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75120" y="1325880"/>
            <a:ext cx="1371600" cy="82296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1280160"/>
            <a:ext cx="1371600" cy="8229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3153B8"/>
                </a:solidFill>
                <a:latin typeface="Bodoni 72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527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1">
                <a:solidFill>
                  <a:srgbClr val="171713"/>
                </a:solidFill>
                <a:latin typeface="思源宋体 CN Heavy"/>
              </a:rPr>
              <a:t>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3611879"/>
            <a:ext cx="1371600" cy="82296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3566159"/>
            <a:ext cx="1371600" cy="8229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59" y="3749039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E76186"/>
                </a:solidFill>
                <a:latin typeface="Bodoni 72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813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1">
                <a:solidFill>
                  <a:srgbClr val="171713"/>
                </a:solidFill>
                <a:latin typeface="思源宋体 CN Heavy"/>
              </a:rPr>
              <a:t>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806440"/>
            <a:ext cx="1371600" cy="82296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5760720"/>
            <a:ext cx="1371600" cy="8229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943600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E8B13F"/>
                </a:solidFill>
                <a:latin typeface="Bodoni 72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600760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1">
                <a:solidFill>
                  <a:srgbClr val="171713"/>
                </a:solidFill>
                <a:latin typeface="思源宋体 CN Heavy"/>
              </a:rPr>
              <a:t>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611879"/>
            <a:ext cx="1371600" cy="822960"/>
          </a:xfrm>
          <a:prstGeom prst="rect">
            <a:avLst/>
          </a:prstGeom>
          <a:solidFill>
            <a:srgbClr val="171713"/>
          </a:solidFill>
          <a:ln w="12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3320" y="3566159"/>
            <a:ext cx="1371600" cy="8229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749039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1">
                <a:solidFill>
                  <a:srgbClr val="171713"/>
                </a:solidFill>
                <a:latin typeface="Bodoni 72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13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1">
                <a:solidFill>
                  <a:srgbClr val="171713"/>
                </a:solidFill>
                <a:latin typeface="思源宋体 CN Heavy"/>
              </a:rPr>
              <a:t>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057400"/>
            <a:ext cx="3840480" cy="804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90000"/>
              </a:lnSpc>
            </a:pPr>
            <a:r>
              <a:rPr sz="3000" b="1">
                <a:solidFill>
                  <a:srgbClr val="171713"/>
                </a:solidFill>
                <a:latin typeface="思源宋体 CN Heavy"/>
              </a:rPr>
              <a:t>一轮不求完美</a:t>
            </a:r>
          </a:p>
          <a:p>
            <a:pPr>
              <a:lnSpc>
                <a:spcPct val="90000"/>
              </a:lnSpc>
            </a:pPr>
            <a:r>
              <a:rPr sz="3000" b="1">
                <a:solidFill>
                  <a:srgbClr val="171713"/>
                </a:solidFill>
                <a:latin typeface="思源宋体 CN Heavy"/>
              </a:rPr>
              <a:t>只求能被检查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49039"/>
            <a:ext cx="3931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700" b="0">
                <a:solidFill>
                  <a:srgbClr val="5E5A51"/>
                </a:solidFill>
                <a:latin typeface="霞鹜文楷"/>
              </a:rPr>
              <a:t>循环图用于表达反复校准的工作流，不用于承载大量文字。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适用：反馈循环 / 生成-检查-迭代 / 闭环系统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C07 /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层级图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堆叠卡 / 上下游 / 金字塔替代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P07 /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83664" y="1563624"/>
            <a:ext cx="10972800" cy="749808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508760"/>
            <a:ext cx="10972800" cy="749808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508760"/>
            <a:ext cx="274320" cy="749808"/>
          </a:xfrm>
          <a:prstGeom prst="rect">
            <a:avLst/>
          </a:prstGeom>
          <a:solidFill>
            <a:srgbClr val="3153B8"/>
          </a:solidFill>
          <a:ln w="127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673351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700" b="1">
                <a:solidFill>
                  <a:srgbClr val="171713"/>
                </a:solidFill>
                <a:latin typeface="思源宋体 CN Heavy"/>
              </a:rPr>
              <a:t>视觉体系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7955279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350" b="0">
                <a:solidFill>
                  <a:srgbClr val="5E5A51"/>
                </a:solidFill>
                <a:latin typeface="霞鹜文楷"/>
              </a:rPr>
              <a:t>颜色、字体、纹理、母版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8024" y="2798064"/>
            <a:ext cx="9784080" cy="749808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2743200"/>
            <a:ext cx="9784080" cy="749808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2743200"/>
            <a:ext cx="274320" cy="749808"/>
          </a:xfrm>
          <a:prstGeom prst="rect">
            <a:avLst/>
          </a:prstGeom>
          <a:solidFill>
            <a:srgbClr val="E76186"/>
          </a:solidFill>
          <a:ln w="127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907792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700" b="1">
                <a:solidFill>
                  <a:srgbClr val="171713"/>
                </a:solidFill>
                <a:latin typeface="思源宋体 CN Heavy"/>
              </a:rPr>
              <a:t>组件白名单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62656"/>
            <a:ext cx="6766559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350" b="0">
                <a:solidFill>
                  <a:srgbClr val="5E5A51"/>
                </a:solidFill>
                <a:latin typeface="霞鹜文楷"/>
              </a:rPr>
              <a:t>文本框、图片槽、结构图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72384" y="4032503"/>
            <a:ext cx="8595360" cy="749808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3977639"/>
            <a:ext cx="8595360" cy="749808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977639"/>
            <a:ext cx="274320" cy="749808"/>
          </a:xfrm>
          <a:prstGeom prst="rect">
            <a:avLst/>
          </a:prstGeom>
          <a:solidFill>
            <a:srgbClr val="E8B13F"/>
          </a:solidFill>
          <a:ln w="127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4142231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700" b="1">
                <a:solidFill>
                  <a:srgbClr val="171713"/>
                </a:solidFill>
                <a:latin typeface="思源宋体 CN Heavy"/>
              </a:rPr>
              <a:t>页面版式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97096"/>
            <a:ext cx="55778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350" b="0">
                <a:solidFill>
                  <a:srgbClr val="5E5A51"/>
                </a:solidFill>
                <a:latin typeface="霞鹜文楷"/>
              </a:rPr>
              <a:t>封面、目录、流程、时间线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66744" y="5266944"/>
            <a:ext cx="7406640" cy="749808"/>
          </a:xfrm>
          <a:prstGeom prst="rect">
            <a:avLst/>
          </a:prstGeom>
          <a:solidFill>
            <a:srgbClr val="171713"/>
          </a:solidFill>
          <a:ln w="12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5212080"/>
            <a:ext cx="7406640" cy="749808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5212080"/>
            <a:ext cx="274320" cy="749808"/>
          </a:xfrm>
          <a:prstGeom prst="rect">
            <a:avLst/>
          </a:prstGeom>
          <a:solidFill>
            <a:srgbClr val="171713"/>
          </a:solidFill>
          <a:ln w="127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376672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700" b="1">
                <a:solidFill>
                  <a:srgbClr val="171713"/>
                </a:solidFill>
                <a:latin typeface="思源宋体 CN Heavy"/>
              </a:rPr>
              <a:t>具体内容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431536"/>
            <a:ext cx="43891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350" b="0">
                <a:solidFill>
                  <a:srgbClr val="5E5A51"/>
                </a:solidFill>
                <a:latin typeface="霞鹜文楷"/>
              </a:rPr>
              <a:t>替换文字与素材，不临场发明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适用：系统分层 / 依赖关系 / 优先级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C08 /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对比图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左右对照 / 三栏对照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P08 /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1755648"/>
            <a:ext cx="5440680" cy="434340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691640"/>
            <a:ext cx="5440680" cy="4343400"/>
          </a:xfrm>
          <a:prstGeom prst="rect">
            <a:avLst/>
          </a:prstGeom>
          <a:solidFill>
            <a:srgbClr val="F8F0DD"/>
          </a:solidFill>
          <a:ln w="304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691640"/>
            <a:ext cx="5440680" cy="621792"/>
          </a:xfrm>
          <a:prstGeom prst="rect">
            <a:avLst/>
          </a:prstGeom>
          <a:solidFill>
            <a:srgbClr val="E76186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43891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000" b="1">
                <a:solidFill>
                  <a:srgbClr val="171713"/>
                </a:solidFill>
                <a:latin typeface="思源宋体 CN Heavy"/>
              </a:rPr>
              <a:t>随机生成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747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90000"/>
              </a:lnSpc>
            </a:pPr>
            <a:r>
              <a:rPr sz="2100" b="0">
                <a:solidFill>
                  <a:srgbClr val="5E5A51"/>
                </a:solidFill>
                <a:latin typeface="霞鹜文楷"/>
              </a:rPr>
              <a:t>风格漂移</a:t>
            </a:r>
          </a:p>
          <a:p>
            <a:pPr>
              <a:lnSpc>
                <a:spcPct val="90000"/>
              </a:lnSpc>
            </a:pPr>
            <a:r>
              <a:rPr sz="2100" b="0">
                <a:solidFill>
                  <a:srgbClr val="5E5A51"/>
                </a:solidFill>
                <a:latin typeface="霞鹜文楷"/>
              </a:rPr>
              <a:t>文字容易满</a:t>
            </a:r>
          </a:p>
          <a:p>
            <a:pPr>
              <a:lnSpc>
                <a:spcPct val="90000"/>
              </a:lnSpc>
            </a:pPr>
            <a:r>
              <a:rPr sz="2100" b="0">
                <a:solidFill>
                  <a:srgbClr val="5E5A51"/>
                </a:solidFill>
                <a:latin typeface="霞鹜文楷"/>
              </a:rPr>
              <a:t>图片乱摆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120640"/>
            <a:ext cx="155448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5189220"/>
            <a:ext cx="14447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不采用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0648" y="1755648"/>
            <a:ext cx="5440680" cy="434340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1691640"/>
            <a:ext cx="5440680" cy="4343400"/>
          </a:xfrm>
          <a:prstGeom prst="rect">
            <a:avLst/>
          </a:prstGeom>
          <a:solidFill>
            <a:srgbClr val="F8F0DD"/>
          </a:solidFill>
          <a:ln w="304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691640"/>
            <a:ext cx="5440680" cy="621792"/>
          </a:xfrm>
          <a:prstGeom prst="rect">
            <a:avLst/>
          </a:prstGeom>
          <a:solidFill>
            <a:srgbClr val="3153B8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2606040"/>
            <a:ext cx="43891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000" b="1">
                <a:solidFill>
                  <a:srgbClr val="171713"/>
                </a:solidFill>
                <a:latin typeface="思源宋体 CN Heavy"/>
              </a:rPr>
              <a:t>组件驱动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747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90000"/>
              </a:lnSpc>
            </a:pPr>
            <a:r>
              <a:rPr sz="2100" b="0">
                <a:solidFill>
                  <a:srgbClr val="5E5A51"/>
                </a:solidFill>
                <a:latin typeface="霞鹜文楷"/>
              </a:rPr>
              <a:t>组件白名单</a:t>
            </a:r>
          </a:p>
          <a:p>
            <a:pPr>
              <a:lnSpc>
                <a:spcPct val="90000"/>
              </a:lnSpc>
            </a:pPr>
            <a:r>
              <a:rPr sz="2100" b="0">
                <a:solidFill>
                  <a:srgbClr val="5E5A51"/>
                </a:solidFill>
                <a:latin typeface="霞鹜文楷"/>
              </a:rPr>
              <a:t>图片先入槽</a:t>
            </a:r>
          </a:p>
          <a:p>
            <a:pPr>
              <a:lnSpc>
                <a:spcPct val="90000"/>
              </a:lnSpc>
            </a:pPr>
            <a:r>
              <a:rPr sz="2100" b="0">
                <a:solidFill>
                  <a:srgbClr val="5E5A51"/>
                </a:solidFill>
                <a:latin typeface="霞鹜文楷"/>
              </a:rPr>
              <a:t>输出可检查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19" y="5120640"/>
            <a:ext cx="155448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3" y="5189220"/>
            <a:ext cx="14447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采用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适用：方案对比 / 前后对比 / 取舍判断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C09 / IMAGE +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图文混排页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图大，字少，文字只做锚点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P09 / IMAGE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" y="1472184"/>
            <a:ext cx="7406640" cy="544068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7406640" cy="544068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09928"/>
            <a:ext cx="7004303" cy="478231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56362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IMG-B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565392"/>
            <a:ext cx="68945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横版主图 / 16:9 或近似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737360"/>
            <a:ext cx="4251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90000"/>
              </a:lnSpc>
            </a:pPr>
            <a:r>
              <a:rPr sz="3300" b="1">
                <a:solidFill>
                  <a:srgbClr val="171713"/>
                </a:solidFill>
                <a:latin typeface="思源宋体 CN Heavy"/>
              </a:rPr>
              <a:t>图片先决定页面气质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2788920"/>
            <a:ext cx="914400" cy="4572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3108960"/>
            <a:ext cx="3749039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0">
                <a:solidFill>
                  <a:srgbClr val="5E5A51"/>
                </a:solidFill>
                <a:latin typeface="霞鹜文楷"/>
              </a:rPr>
              <a:t>这类页面只允许一段短说明。图片不是装饰，它是主内容。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5074920"/>
            <a:ext cx="114300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5143500"/>
            <a:ext cx="1033271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CAPTION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5486400"/>
            <a:ext cx="3657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00" b="0">
                <a:solidFill>
                  <a:srgbClr val="5E5A51"/>
                </a:solidFill>
                <a:latin typeface="Consolas"/>
              </a:rPr>
              <a:t>图片来源 / 生成提示 / 风格化说明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适用：多图章节 / 案例页 / 插画解释页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C10 / COLLAGE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图片拼贴页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主图 + 辅图，不平均分配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P10 / COLLAGE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" y="1472184"/>
            <a:ext cx="6035040" cy="534924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6035040" cy="534924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09928"/>
            <a:ext cx="5632703" cy="469087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56362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IMG-A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473951"/>
            <a:ext cx="55229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主图槽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5784" y="1472184"/>
            <a:ext cx="2834640" cy="224028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417320"/>
            <a:ext cx="2834640" cy="224028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62088" y="1709928"/>
            <a:ext cx="2432304" cy="158191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156362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IMG-E1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33649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辅图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16184" y="1472184"/>
            <a:ext cx="2834640" cy="224028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61320" y="1417320"/>
            <a:ext cx="2834640" cy="224028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62488" y="1709928"/>
            <a:ext cx="2432304" cy="158191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44200" y="156362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9906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IMG-E2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33649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辅图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15784" y="4123944"/>
            <a:ext cx="6035040" cy="269748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4069080"/>
            <a:ext cx="6035040" cy="269748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62088" y="4361688"/>
            <a:ext cx="5632703" cy="203911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421538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4" y="428396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IMG-B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6473952"/>
            <a:ext cx="55229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宽幅辅图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6967728"/>
            <a:ext cx="5669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0">
                <a:solidFill>
                  <a:srgbClr val="5E5A51"/>
                </a:solidFill>
                <a:latin typeface="霞鹜文楷"/>
              </a:rPr>
              <a:t>拼贴不是网格平均分。主图必须明确，辅图只做证据。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适用：案例合集 / 视觉证据 / 多图讲述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C11 / MASTER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IP / Logo 母版页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Logo 原样，IP 风格化后入槽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P11 / MASTER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" y="1563624"/>
            <a:ext cx="4160520" cy="233172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08760"/>
            <a:ext cx="4160520" cy="2331720"/>
          </a:xfrm>
          <a:prstGeom prst="rect">
            <a:avLst/>
          </a:prstGeom>
          <a:solidFill>
            <a:srgbClr val="F8F0DD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200" b="1">
                <a:solidFill>
                  <a:srgbClr val="171713"/>
                </a:solidFill>
                <a:latin typeface="思源宋体 CN Heavy"/>
              </a:rPr>
              <a:t>Logo：原样角标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7872" y="1993392"/>
            <a:ext cx="1024128" cy="329184"/>
          </a:xfrm>
          <a:prstGeom prst="rect">
            <a:avLst/>
          </a:prstGeom>
          <a:solidFill>
            <a:srgbClr val="F3ECD8"/>
          </a:solidFill>
          <a:ln w="1397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841248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20" b="0">
                <a:solidFill>
                  <a:srgbClr val="5E5A51"/>
                </a:solidFill>
                <a:latin typeface="Consolas"/>
              </a:rPr>
              <a:t>USER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87168"/>
            <a:ext cx="3200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0">
                <a:solidFill>
                  <a:srgbClr val="5E5A51"/>
                </a:solidFill>
                <a:latin typeface="霞鹜文楷"/>
              </a:rPr>
              <a:t>不重绘、不改色、不套颗粒。</a:t>
            </a:r>
          </a:p>
          <a:p>
            <a:r>
              <a:rPr sz="1400" b="0">
                <a:solidFill>
                  <a:srgbClr val="5E5A51"/>
                </a:solidFill>
                <a:latin typeface="霞鹜文楷"/>
              </a:rPr>
              <a:t>只做小尺寸固定角标。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78424" y="1563624"/>
            <a:ext cx="7726679" cy="233172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1508760"/>
            <a:ext cx="7726679" cy="2331720"/>
          </a:xfrm>
          <a:prstGeom prst="rect">
            <a:avLst/>
          </a:prstGeom>
          <a:solidFill>
            <a:srgbClr val="243D86"/>
          </a:solidFill>
          <a:ln w="266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1828800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思源宋体 CN Heavy"/>
              </a:rPr>
              <a:t>IP：必须先风格化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423160"/>
            <a:ext cx="61264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400" b="0">
                <a:solidFill>
                  <a:srgbClr val="FFFFFF"/>
                </a:solidFill>
                <a:latin typeface="霞鹜文楷"/>
              </a:rPr>
              <a:t>用户提供原图 → 确认保留特征 → 图生图转成双色老印刷 → 抠图入槽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" y="4398264"/>
            <a:ext cx="3291840" cy="205740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343400"/>
            <a:ext cx="3291840" cy="205740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" y="4636008"/>
            <a:ext cx="2889504" cy="139903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448970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IP-A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6108192"/>
            <a:ext cx="27797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主视觉 IP 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1144" y="4398264"/>
            <a:ext cx="2743200" cy="205740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343400"/>
            <a:ext cx="2743200" cy="205740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27448" y="4636008"/>
            <a:ext cx="2340864" cy="139903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448970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IP-B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6108192"/>
            <a:ext cx="223113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旁白 IP 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0104" y="4398264"/>
            <a:ext cx="2468880" cy="205740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4343400"/>
            <a:ext cx="2468880" cy="205740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36408" y="4636008"/>
            <a:ext cx="2066544" cy="139903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19" y="448970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2983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IP-C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1" y="6108192"/>
            <a:ext cx="195681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动作 IP 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24744" y="4398264"/>
            <a:ext cx="2834640" cy="2057400"/>
          </a:xfrm>
          <a:prstGeom prst="rect">
            <a:avLst/>
          </a:prstGeom>
          <a:solidFill>
            <a:srgbClr val="171713"/>
          </a:solidFill>
          <a:ln w="12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69880" y="4343400"/>
            <a:ext cx="2834640" cy="205740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71048" y="4636008"/>
            <a:ext cx="2432304" cy="1399032"/>
          </a:xfrm>
          <a:prstGeom prst="rect">
            <a:avLst/>
          </a:prstGeom>
          <a:solidFill>
            <a:srgbClr val="F3ECD8"/>
          </a:solidFill>
          <a:ln w="1524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52759" y="4489704"/>
            <a:ext cx="1417320" cy="256032"/>
          </a:xfrm>
          <a:prstGeom prst="rect">
            <a:avLst/>
          </a:prstGeom>
          <a:solidFill>
            <a:srgbClr val="171713"/>
          </a:solidFill>
          <a:ln w="635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F3ECD8"/>
                </a:solidFill>
                <a:latin typeface="Consolas"/>
              </a:rPr>
              <a:t>IP-D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1" y="61081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5E5A51"/>
                </a:solidFill>
                <a:latin typeface="Consolas"/>
              </a:rPr>
              <a:t>流程小图标槽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适用：品牌母版 / 角色资产 / 统一出图规则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950" b="0">
                <a:solidFill>
                  <a:srgbClr val="5E5A51"/>
                </a:solidFill>
                <a:latin typeface="Consolas"/>
              </a:rPr>
              <a:t>C12 / 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3100" b="1">
                <a:solidFill>
                  <a:srgbClr val="171713"/>
                </a:solidFill>
                <a:latin typeface="思源宋体 CN Heavy"/>
              </a:rPr>
              <a:t>出图资产页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5E5A51"/>
                </a:solidFill>
                <a:latin typeface="Consolas"/>
              </a:rPr>
              <a:t>把生图变成可控页面元素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780" b="0">
                <a:solidFill>
                  <a:srgbClr val="5E5A51"/>
                </a:solidFill>
                <a:latin typeface="Consolas"/>
              </a:rPr>
              <a:t>P12 / IMAGE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F8F0DD"/>
          </a:solidFill>
          <a:ln w="12700">
            <a:solidFill>
              <a:srgbClr val="5E5A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5E5A51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56692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>
              <a:lnSpc>
                <a:spcPct val="86000"/>
              </a:lnSpc>
            </a:pPr>
            <a:r>
              <a:rPr sz="3700" b="1">
                <a:solidFill>
                  <a:srgbClr val="171713"/>
                </a:solidFill>
                <a:latin typeface="思源宋体 CN Heavy"/>
              </a:rPr>
              <a:t>出图不是自由发挥</a:t>
            </a:r>
          </a:p>
          <a:p>
            <a:pPr>
              <a:lnSpc>
                <a:spcPct val="86000"/>
              </a:lnSpc>
            </a:pPr>
            <a:r>
              <a:rPr sz="3700" b="1">
                <a:solidFill>
                  <a:srgbClr val="171713"/>
                </a:solidFill>
                <a:latin typeface="思源宋体 CN Heavy"/>
              </a:rPr>
              <a:t>而是进入槽位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53035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800" b="0">
                <a:solidFill>
                  <a:srgbClr val="5E5A51"/>
                </a:solidFill>
                <a:latin typeface="霞鹜文楷"/>
              </a:rPr>
              <a:t>每张图都要先确定：用途、比例、是否抠图、是否需要图生图统一风格。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71131" y="1650492"/>
            <a:ext cx="2697480" cy="1508760"/>
          </a:xfrm>
          <a:prstGeom prst="rect">
            <a:avLst/>
          </a:prstGeom>
          <a:solidFill>
            <a:srgbClr val="3153B8"/>
          </a:solidFill>
          <a:ln w="1270">
            <a:solidFill>
              <a:srgbClr val="315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600200"/>
            <a:ext cx="2697480" cy="1508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22007" y="1801368"/>
            <a:ext cx="475488" cy="475488"/>
          </a:xfrm>
          <a:prstGeom prst="rect">
            <a:avLst/>
          </a:prstGeom>
          <a:solidFill>
            <a:srgbClr val="3153B8"/>
          </a:solidFill>
          <a:ln w="1651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3" y="1911095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Bodoni 72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874519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600" b="1">
                <a:solidFill>
                  <a:srgbClr val="171713"/>
                </a:solidFill>
                <a:latin typeface="思源宋体 CN Heavy"/>
              </a:rPr>
              <a:t>原图输入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244144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00" b="0">
                <a:solidFill>
                  <a:srgbClr val="5E5A51"/>
                </a:solidFill>
                <a:latin typeface="霞鹜文楷"/>
              </a:rPr>
              <a:t>用户图 / 素材图 / 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5812" y="1650492"/>
            <a:ext cx="2697480" cy="150876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0" y="1600200"/>
            <a:ext cx="2697480" cy="1508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76688" y="1801368"/>
            <a:ext cx="475488" cy="475488"/>
          </a:xfrm>
          <a:prstGeom prst="rect">
            <a:avLst/>
          </a:prstGeom>
          <a:solidFill>
            <a:srgbClr val="E76186"/>
          </a:solidFill>
          <a:ln w="1651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8984" y="1911095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Bodoni 72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1874519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600" b="1">
                <a:solidFill>
                  <a:srgbClr val="171713"/>
                </a:solidFill>
                <a:latin typeface="思源宋体 CN Heavy"/>
              </a:rPr>
              <a:t>风格化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4144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00" b="0">
                <a:solidFill>
                  <a:srgbClr val="5E5A51"/>
                </a:solidFill>
                <a:latin typeface="霞鹜文楷"/>
              </a:rPr>
              <a:t>双色、纸感、网点、错位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71131" y="3890772"/>
            <a:ext cx="2697480" cy="1508760"/>
          </a:xfrm>
          <a:prstGeom prst="rect">
            <a:avLst/>
          </a:prstGeom>
          <a:solidFill>
            <a:srgbClr val="E8B13F"/>
          </a:solidFill>
          <a:ln w="1270">
            <a:solidFill>
              <a:srgbClr val="E8B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840480"/>
            <a:ext cx="2697480" cy="1508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2007" y="4041648"/>
            <a:ext cx="475488" cy="475488"/>
          </a:xfrm>
          <a:prstGeom prst="rect">
            <a:avLst/>
          </a:prstGeom>
          <a:solidFill>
            <a:srgbClr val="E8B13F"/>
          </a:solidFill>
          <a:ln w="1651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3" y="4151376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171713"/>
                </a:solidFill>
                <a:latin typeface="Bodoni 72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411480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600" b="1">
                <a:solidFill>
                  <a:srgbClr val="171713"/>
                </a:solidFill>
                <a:latin typeface="思源宋体 CN Heavy"/>
              </a:rPr>
              <a:t>抠图裁切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00" b="0">
                <a:solidFill>
                  <a:srgbClr val="5E5A51"/>
                </a:solidFill>
                <a:latin typeface="霞鹜文楷"/>
              </a:rPr>
              <a:t>透明 PNG / 固定比例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5812" y="3890772"/>
            <a:ext cx="2697480" cy="1508760"/>
          </a:xfrm>
          <a:prstGeom prst="rect">
            <a:avLst/>
          </a:prstGeom>
          <a:solidFill>
            <a:srgbClr val="171713"/>
          </a:solidFill>
          <a:ln w="127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3840480"/>
            <a:ext cx="2697480" cy="1508760"/>
          </a:xfrm>
          <a:prstGeom prst="rect">
            <a:avLst/>
          </a:prstGeom>
          <a:solidFill>
            <a:srgbClr val="F8F0DD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76688" y="4041648"/>
            <a:ext cx="475488" cy="475488"/>
          </a:xfrm>
          <a:prstGeom prst="rect">
            <a:avLst/>
          </a:prstGeom>
          <a:solidFill>
            <a:srgbClr val="171713"/>
          </a:solidFill>
          <a:ln w="1651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8984" y="4151376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Bodoni 72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6768" y="411480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600" b="1">
                <a:solidFill>
                  <a:srgbClr val="171713"/>
                </a:solidFill>
                <a:latin typeface="思源宋体 CN Heavy"/>
              </a:rPr>
              <a:t>进入槽位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r>
              <a:rPr sz="1200" b="0">
                <a:solidFill>
                  <a:srgbClr val="5E5A51"/>
                </a:solidFill>
                <a:latin typeface="霞鹜文楷"/>
              </a:rPr>
              <a:t>A/B/C/D/E 图片容器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" y="4946903"/>
            <a:ext cx="5349240" cy="1371600"/>
          </a:xfrm>
          <a:prstGeom prst="rect">
            <a:avLst/>
          </a:prstGeom>
          <a:solidFill>
            <a:srgbClr val="E76186"/>
          </a:solidFill>
          <a:ln w="1270">
            <a:solidFill>
              <a:srgbClr val="E761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892040"/>
            <a:ext cx="5349240" cy="1371600"/>
          </a:xfrm>
          <a:prstGeom prst="rect">
            <a:avLst/>
          </a:prstGeom>
          <a:solidFill>
            <a:srgbClr val="243D86"/>
          </a:solidFill>
          <a:ln w="2540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349240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550" b="0">
                <a:solidFill>
                  <a:srgbClr val="FFFFFF"/>
                </a:solidFill>
                <a:latin typeface="霞鹜文楷"/>
              </a:rPr>
              <a:t>运行时必须问：有没有 logo？有没有 IP？是否允许风格化和抠图？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F8F0DD"/>
          </a:solidFill>
          <a:ln w="17780">
            <a:solidFill>
              <a:srgbClr val="1717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5E5A51"/>
                </a:solidFill>
                <a:latin typeface="霞鹜文楷"/>
              </a:rPr>
              <a:t>适用：出图任务 / 图生图 / 图片资产收口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
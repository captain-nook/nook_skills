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C01 / YAJI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巨型标题页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少字 / 大字 / 强入口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P01 / GIANT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48648" y="1442008"/>
            <a:ext cx="4434840" cy="534924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417320"/>
            <a:ext cx="4434840" cy="534924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5128" y="1709928"/>
            <a:ext cx="4032503" cy="469087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156362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6473951"/>
            <a:ext cx="39227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竖版主图槽 4:5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481328"/>
            <a:ext cx="72237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2000"/>
              </a:lnSpc>
            </a:pPr>
            <a:r>
              <a:rPr sz="5200" b="1">
                <a:solidFill>
                  <a:srgbClr val="F4E8CF"/>
                </a:solidFill>
                <a:latin typeface="SimSun"/>
              </a:rPr>
              <a:t>可编辑</a:t>
            </a:r>
          </a:p>
          <a:p>
            <a:pPr algn="l">
              <a:lnSpc>
                <a:spcPct val="82000"/>
              </a:lnSpc>
            </a:pPr>
            <a:r>
              <a:rPr sz="5200" b="1">
                <a:solidFill>
                  <a:srgbClr val="F4E8CF"/>
                </a:solidFill>
                <a:latin typeface="SimSun"/>
              </a:rPr>
              <a:t>PPT</a:t>
            </a:r>
          </a:p>
          <a:p>
            <a:pPr algn="l">
              <a:lnSpc>
                <a:spcPct val="82000"/>
              </a:lnSpc>
            </a:pPr>
            <a:r>
              <a:rPr sz="5200" b="1">
                <a:solidFill>
                  <a:srgbClr val="F4E8CF"/>
                </a:solidFill>
                <a:latin typeface="SimSun"/>
              </a:rPr>
              <a:t>不是截图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17720"/>
            <a:ext cx="1005840" cy="45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92040"/>
            <a:ext cx="56692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BFAE92"/>
                </a:solidFill>
                <a:latin typeface="FangSong"/>
              </a:rPr>
              <a:t>它是一套能被拆开、移动、重排、再编辑的出版组件。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适用：封面 / 章节页 / 大观点开场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C02 /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一句话判断页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一句话占主导，不写小作文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P02 / ONE SENTENCE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47318" y="1633118"/>
            <a:ext cx="12161520" cy="306324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12161520" cy="3063240"/>
          </a:xfrm>
          <a:prstGeom prst="rect">
            <a:avLst/>
          </a:prstGeom>
          <a:solidFill>
            <a:srgbClr val="0E0A07"/>
          </a:solidFill>
          <a:ln w="304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65836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4300" b="1">
                <a:solidFill>
                  <a:srgbClr val="F8F1E2"/>
                </a:solidFill>
                <a:latin typeface="SimSun"/>
              </a:rPr>
              <a:t>模型不能临场</a:t>
            </a:r>
          </a:p>
          <a:p>
            <a:pPr algn="l">
              <a:lnSpc>
                <a:spcPct val="86000"/>
              </a:lnSpc>
            </a:pPr>
            <a:r>
              <a:rPr sz="4300" b="1">
                <a:solidFill>
                  <a:srgbClr val="F8F1E2"/>
                </a:solidFill>
                <a:latin typeface="SimSun"/>
              </a:rPr>
              <a:t>发明页面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3611880"/>
            <a:ext cx="79552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F8F1E2"/>
                </a:solidFill>
                <a:latin typeface="FangSong"/>
              </a:rPr>
              <a:t>它只能从组件白名单里选择、组合、替换内容。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5560" y="1993392"/>
            <a:ext cx="201168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50424" y="2061972"/>
            <a:ext cx="19019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CORE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43200"/>
            <a:ext cx="21945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8F1E2"/>
                </a:solidFill>
                <a:latin typeface="Consolas"/>
              </a:rPr>
              <a:t>深底白字</a:t>
            </a:r>
          </a:p>
          <a:p>
            <a:pPr algn="ctr"/>
            <a:r>
              <a:rPr sz="1100" b="0">
                <a:solidFill>
                  <a:srgbClr val="F8F1E2"/>
                </a:solidFill>
                <a:latin typeface="Consolas"/>
              </a:rPr>
              <a:t>最多两行标题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适用：结论页 / 转场页 / 警示页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C03 / BIG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大数字页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数字是主角，文字只解释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P03 / BIG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600" b="1">
                <a:solidFill>
                  <a:srgbClr val="C69A55"/>
                </a:solidFill>
                <a:latin typeface="Georg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600" b="1">
                <a:solidFill>
                  <a:srgbClr val="F4E8CF"/>
                </a:solidFill>
                <a:latin typeface="Georg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0116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4E8CF"/>
                </a:solidFill>
                <a:latin typeface="SimSun"/>
              </a:rPr>
              <a:t>类组件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521208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000" b="0">
                <a:solidFill>
                  <a:srgbClr val="BFAE92"/>
                </a:solidFill>
                <a:latin typeface="FangSong"/>
              </a:rPr>
              <a:t>第一套组件库不追求多，追求少而稳定。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3431" y="1851431"/>
            <a:ext cx="2011680" cy="265176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011680" cy="2651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Georgia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788920"/>
            <a:ext cx="822960" cy="4572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F4E8CF"/>
                </a:solidFill>
                <a:latin typeface="SimSun"/>
              </a:rPr>
              <a:t>图片槽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BFAE92"/>
                </a:solidFill>
                <a:latin typeface="FangSong"/>
              </a:rPr>
              <a:t>多图页面的核心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6591" y="1851431"/>
            <a:ext cx="2011680" cy="265176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828800"/>
            <a:ext cx="2011680" cy="2651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Georgia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788920"/>
            <a:ext cx="822960" cy="45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F4E8CF"/>
                </a:solidFill>
                <a:latin typeface="SimSun"/>
              </a:rPr>
              <a:t>文本框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BFAE92"/>
                </a:solidFill>
                <a:latin typeface="FangSong"/>
              </a:rPr>
              <a:t>少字大字的基础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69751" y="1851431"/>
            <a:ext cx="2011680" cy="265176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247120" y="1828800"/>
            <a:ext cx="2011680" cy="2651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48288" y="2084831"/>
            <a:ext cx="109728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Georgia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75720" y="2788920"/>
            <a:ext cx="822960" cy="4572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75720" y="3090672"/>
            <a:ext cx="1463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F4E8CF"/>
                </a:solidFill>
                <a:latin typeface="SimSun"/>
              </a:rPr>
              <a:t>结构图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3493008"/>
            <a:ext cx="1463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50" b="0">
                <a:solidFill>
                  <a:srgbClr val="BFAE92"/>
                </a:solidFill>
                <a:latin typeface="FangSong"/>
              </a:rPr>
              <a:t>时间轴、循环、层级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适用：数据页 / 进度页 / 章节摘要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C04 / PROCESS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流程卡组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可复制的步骤文本框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P04 / PROCESS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928" y="1899208"/>
            <a:ext cx="2788920" cy="38862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2788920" cy="3886200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2788920" cy="658368"/>
          </a:xfrm>
          <a:prstGeom prst="rect">
            <a:avLst/>
          </a:prstGeom>
          <a:solidFill>
            <a:srgbClr val="B33A2E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8F1E2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8F1E2"/>
                </a:solidFill>
                <a:latin typeface="Consolas"/>
              </a:rPr>
              <a:t>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F4E8CF"/>
                </a:solidFill>
                <a:latin typeface="SimSun"/>
              </a:rPr>
              <a:t>收集材料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383280"/>
            <a:ext cx="1005840" cy="4572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文本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图片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品牌资产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9488" y="1899208"/>
            <a:ext cx="2788920" cy="38862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874519"/>
            <a:ext cx="2788920" cy="3886200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1874519"/>
            <a:ext cx="2788920" cy="658368"/>
          </a:xfrm>
          <a:prstGeom prst="rect">
            <a:avLst/>
          </a:prstGeom>
          <a:solidFill>
            <a:srgbClr val="C69A55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8F1E2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8F1E2"/>
                </a:solidFill>
                <a:latin typeface="Consolas"/>
              </a:rPr>
              <a:t>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F4E8CF"/>
                </a:solidFill>
                <a:latin typeface="SimSun"/>
              </a:rPr>
              <a:t>拆成组件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383280"/>
            <a:ext cx="1005840" cy="45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内容压缩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图片入槽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字体检查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7048" y="1899208"/>
            <a:ext cx="2788920" cy="388620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874519"/>
            <a:ext cx="2788920" cy="3886200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874519"/>
            <a:ext cx="2788920" cy="658368"/>
          </a:xfrm>
          <a:prstGeom prst="rect">
            <a:avLst/>
          </a:prstGeom>
          <a:solidFill>
            <a:srgbClr val="6E7F68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4E8CF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4E8CF"/>
                </a:solidFill>
                <a:latin typeface="Consolas"/>
              </a:rPr>
              <a:t>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F4E8CF"/>
                </a:solidFill>
                <a:latin typeface="SimSun"/>
              </a:rPr>
              <a:t>拼成页面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4112" y="3383280"/>
            <a:ext cx="1005840" cy="4572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选择版式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替换文案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输出 PPT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14608" y="1899208"/>
            <a:ext cx="2788920" cy="3886200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9919" y="1874519"/>
            <a:ext cx="2788920" cy="3886200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19" y="1874519"/>
            <a:ext cx="2788920" cy="658368"/>
          </a:xfrm>
          <a:prstGeom prst="rect">
            <a:avLst/>
          </a:prstGeom>
          <a:solidFill>
            <a:srgbClr val="F4E8CF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4511" y="1993392"/>
            <a:ext cx="65836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800" b="1">
                <a:solidFill>
                  <a:srgbClr val="F8F1E2"/>
                </a:solidFill>
                <a:latin typeface="Georgia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50040" y="2139696"/>
            <a:ext cx="15087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840" b="0">
                <a:solidFill>
                  <a:srgbClr val="F8F1E2"/>
                </a:solidFill>
                <a:latin typeface="Consolas"/>
              </a:rPr>
              <a:t>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28803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100" b="1">
                <a:solidFill>
                  <a:srgbClr val="F4E8CF"/>
                </a:solidFill>
                <a:latin typeface="SimSun"/>
              </a:rPr>
              <a:t>人工审美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91672" y="3383280"/>
            <a:ext cx="1005840" cy="45720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59" y="374903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可编辑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不出框</a:t>
            </a:r>
          </a:p>
          <a:p>
            <a:pPr>
              <a:lnSpc>
                <a:spcPct val="90000"/>
              </a:lnSpc>
            </a:pPr>
            <a:r>
              <a:rPr sz="1350">
                <a:solidFill>
                  <a:srgbClr val="BFAE92"/>
                </a:solidFill>
                <a:latin typeface="FangSong"/>
              </a:rPr>
              <a:t>· 风格统一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适用：线性流程 / 方法论步骤 / 操作说明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C05 /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横向主轴 + 事件卡片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P05 /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4069080"/>
            <a:ext cx="11978640" cy="0"/>
          </a:xfrm>
          <a:prstGeom prst="line">
            <a:avLst/>
          </a:prstGeom>
          <a:ln w="114300">
            <a:solidFill>
              <a:srgbClr val="B3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" y="4187952"/>
            <a:ext cx="11978640" cy="0"/>
          </a:xfrm>
          <a:prstGeom prst="line">
            <a:avLst/>
          </a:prstGeom>
          <a:ln w="50800">
            <a:solidFill>
              <a:srgbClr val="C69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4984" y="111556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C69A55"/>
                </a:solidFill>
                <a:latin typeface="Georgia"/>
              </a:rPr>
              <a:t>1920s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05156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Georgia"/>
              </a:rPr>
              <a:t>1920s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2134" y="2169414"/>
            <a:ext cx="2286000" cy="11430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148840"/>
            <a:ext cx="2286000" cy="1143000"/>
          </a:xfrm>
          <a:prstGeom prst="rect">
            <a:avLst/>
          </a:prstGeom>
          <a:solidFill>
            <a:srgbClr val="F4E8CF"/>
          </a:solidFill>
          <a:ln w="2286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148840"/>
            <a:ext cx="2286000" cy="347472"/>
          </a:xfrm>
          <a:prstGeom prst="rect">
            <a:avLst/>
          </a:prstGeom>
          <a:solidFill>
            <a:srgbClr val="B33A2E"/>
          </a:solidFill>
          <a:ln w="2032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22199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SimSun"/>
              </a:rPr>
              <a:t>源头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63347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小众出版</a:t>
            </a:r>
          </a:p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手作表达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291840"/>
            <a:ext cx="0" cy="758951"/>
          </a:xfrm>
          <a:prstGeom prst="line">
            <a:avLst/>
          </a:prstGeom>
          <a:ln w="27940">
            <a:solidFill>
              <a:srgbClr val="F4E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26864" y="70408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C69A55"/>
                </a:solidFill>
                <a:latin typeface="Georgia"/>
              </a:rPr>
              <a:t>1976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008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F4E8CF"/>
                </a:solidFill>
                <a:latin typeface="Georgia"/>
              </a:rPr>
              <a:t>1976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4014" y="1757934"/>
            <a:ext cx="2286000" cy="114300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737360"/>
            <a:ext cx="2286000" cy="1143000"/>
          </a:xfrm>
          <a:prstGeom prst="rect">
            <a:avLst/>
          </a:prstGeom>
          <a:solidFill>
            <a:srgbClr val="F4E8CF"/>
          </a:solidFill>
          <a:ln w="2286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737360"/>
            <a:ext cx="2286000" cy="347472"/>
          </a:xfrm>
          <a:prstGeom prst="rect">
            <a:avLst/>
          </a:prstGeom>
          <a:solidFill>
            <a:srgbClr val="6E7F68"/>
          </a:solidFill>
          <a:ln w="2032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81051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4E8CF"/>
                </a:solidFill>
                <a:latin typeface="SimSun"/>
              </a:rPr>
              <a:t>浪潮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22199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ZINE 文化</a:t>
            </a:r>
          </a:p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开始扩散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6440" y="2880360"/>
            <a:ext cx="0" cy="1170431"/>
          </a:xfrm>
          <a:prstGeom prst="line">
            <a:avLst/>
          </a:prstGeom>
          <a:ln w="27940">
            <a:solidFill>
              <a:srgbClr val="F4E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38744" y="3785616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C69A55"/>
                </a:solidFill>
                <a:latin typeface="Georgia"/>
              </a:rPr>
              <a:t>1991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216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4600" b="1">
                <a:solidFill>
                  <a:srgbClr val="F4E8CF"/>
                </a:solidFill>
                <a:latin typeface="Georgia"/>
              </a:rPr>
              <a:t>1991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95894" y="4839462"/>
            <a:ext cx="2286000" cy="11430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4818888"/>
            <a:ext cx="2286000" cy="1143000"/>
          </a:xfrm>
          <a:prstGeom prst="rect">
            <a:avLst/>
          </a:prstGeom>
          <a:solidFill>
            <a:srgbClr val="F4E8CF"/>
          </a:solidFill>
          <a:ln w="2286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4818888"/>
            <a:ext cx="2286000" cy="347472"/>
          </a:xfrm>
          <a:prstGeom prst="rect">
            <a:avLst/>
          </a:prstGeom>
          <a:solidFill>
            <a:srgbClr val="C69A55"/>
          </a:solidFill>
          <a:ln w="2032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892040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SimSun"/>
              </a:rPr>
              <a:t>转折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5303520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社群、音乐</a:t>
            </a:r>
          </a:p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与女性主义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418319" y="4050791"/>
            <a:ext cx="0" cy="1911097"/>
          </a:xfrm>
          <a:prstGeom prst="line">
            <a:avLst/>
          </a:prstGeom>
          <a:ln w="27940">
            <a:solidFill>
              <a:srgbClr val="F4E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256264" y="978408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C69A55"/>
                </a:solidFill>
                <a:latin typeface="Georgia"/>
              </a:rPr>
              <a:t>2010s+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914400"/>
            <a:ext cx="192024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Georgia"/>
              </a:rPr>
              <a:t>2010s+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13414" y="2032254"/>
            <a:ext cx="2286000" cy="11430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92840" y="2011680"/>
            <a:ext cx="2286000" cy="1143000"/>
          </a:xfrm>
          <a:prstGeom prst="rect">
            <a:avLst/>
          </a:prstGeom>
          <a:solidFill>
            <a:srgbClr val="F4E8CF"/>
          </a:solidFill>
          <a:ln w="2286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292840" y="2011680"/>
            <a:ext cx="2286000" cy="347472"/>
          </a:xfrm>
          <a:prstGeom prst="rect">
            <a:avLst/>
          </a:prstGeom>
          <a:solidFill>
            <a:srgbClr val="B33A2E"/>
          </a:solidFill>
          <a:ln w="2032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0" y="2084832"/>
            <a:ext cx="1965960" cy="1280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SimSun"/>
              </a:rPr>
              <a:t>复兴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57432" y="2496312"/>
            <a:ext cx="1828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书展、馆藏</a:t>
            </a:r>
          </a:p>
          <a:p>
            <a:pPr algn="ctr"/>
            <a:r>
              <a:rPr sz="1100" b="0">
                <a:solidFill>
                  <a:srgbClr val="F8F1E2"/>
                </a:solidFill>
                <a:latin typeface="FangSong"/>
              </a:rPr>
              <a:t>与独立出版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435840" y="3154680"/>
            <a:ext cx="0" cy="896111"/>
          </a:xfrm>
          <a:prstGeom prst="line">
            <a:avLst/>
          </a:prstGeom>
          <a:ln w="27940">
            <a:solidFill>
              <a:srgbClr val="F4E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适用：历史线 / 项目里程碑 / 版本演进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C06 /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循环图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3-4 步循环，不做复杂飞轮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P06 /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2148840"/>
            <a:ext cx="1417320" cy="1252728"/>
          </a:xfrm>
          <a:prstGeom prst="line">
            <a:avLst/>
          </a:prstGeom>
          <a:ln w="38100">
            <a:solidFill>
              <a:srgbClr val="B3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4572000"/>
            <a:ext cx="1645920" cy="1170432"/>
          </a:xfrm>
          <a:prstGeom prst="line">
            <a:avLst/>
          </a:prstGeom>
          <a:ln w="38100">
            <a:solidFill>
              <a:srgbClr val="C69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5029200" y="4572000"/>
            <a:ext cx="1417320" cy="1188720"/>
          </a:xfrm>
          <a:prstGeom prst="line">
            <a:avLst/>
          </a:prstGeom>
          <a:ln w="38100">
            <a:solidFill>
              <a:srgbClr val="6E7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074920" y="2148840"/>
            <a:ext cx="1371600" cy="1234440"/>
          </a:xfrm>
          <a:prstGeom prst="line">
            <a:avLst/>
          </a:prstGeom>
          <a:ln w="38100">
            <a:solidFill>
              <a:srgbClr val="F4E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49974" y="1300734"/>
            <a:ext cx="1371600" cy="82296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1280160"/>
            <a:ext cx="1371600" cy="8229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46304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B33A2E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27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F4E8CF"/>
                </a:solidFill>
                <a:latin typeface="SimSun"/>
              </a:rPr>
              <a:t>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76054" y="3586733"/>
            <a:ext cx="1371600" cy="82296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3566159"/>
            <a:ext cx="1371600" cy="8229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59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C69A55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F4E8CF"/>
                </a:solidFill>
                <a:latin typeface="SimSun"/>
              </a:rPr>
              <a:t>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9974" y="5781294"/>
            <a:ext cx="1371600" cy="82296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5760720"/>
            <a:ext cx="1371600" cy="8229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943600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6E7F68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600760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F4E8CF"/>
                </a:solidFill>
                <a:latin typeface="SimSun"/>
              </a:rPr>
              <a:t>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23894" y="3586733"/>
            <a:ext cx="1371600" cy="822960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3566159"/>
            <a:ext cx="1371600" cy="8229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749039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1">
                <a:solidFill>
                  <a:srgbClr val="F4E8CF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13048"/>
            <a:ext cx="5029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1">
                <a:solidFill>
                  <a:srgbClr val="F4E8CF"/>
                </a:solidFill>
                <a:latin typeface="SimSun"/>
              </a:rPr>
              <a:t>迭代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057400"/>
            <a:ext cx="3840480" cy="8046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000" b="1">
                <a:solidFill>
                  <a:srgbClr val="F4E8CF"/>
                </a:solidFill>
                <a:latin typeface="SimSun"/>
              </a:rPr>
              <a:t>一轮不求完美</a:t>
            </a:r>
          </a:p>
          <a:p>
            <a:pPr algn="l">
              <a:lnSpc>
                <a:spcPct val="90000"/>
              </a:lnSpc>
            </a:pPr>
            <a:r>
              <a:rPr sz="3000" b="1">
                <a:solidFill>
                  <a:srgbClr val="F4E8CF"/>
                </a:solidFill>
                <a:latin typeface="SimSun"/>
              </a:rPr>
              <a:t>只求能被检查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49039"/>
            <a:ext cx="3931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0">
                <a:solidFill>
                  <a:srgbClr val="BFAE92"/>
                </a:solidFill>
                <a:latin typeface="FangSong"/>
              </a:rPr>
              <a:t>循环图用于表达反复校准的工作流，不用于承载大量文字。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适用：反馈循环 / 生成-检查-迭代 / 闭环系统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C07 /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层级图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堆叠卡 / 上下游 / 金字塔替代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P07 /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3488" y="1533448"/>
            <a:ext cx="10972800" cy="749808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1508760"/>
            <a:ext cx="10972800" cy="749808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508760"/>
            <a:ext cx="274320" cy="749808"/>
          </a:xfrm>
          <a:prstGeom prst="rect">
            <a:avLst/>
          </a:prstGeom>
          <a:solidFill>
            <a:srgbClr val="B33A2E"/>
          </a:solidFill>
          <a:ln w="127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7335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F4E8CF"/>
                </a:solidFill>
                <a:latin typeface="SimSun"/>
              </a:rPr>
              <a:t>视觉体系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795527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BFAE92"/>
                </a:solidFill>
                <a:latin typeface="FangSong"/>
              </a:rPr>
              <a:t>颜色、字体、纹理、母版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7848" y="2767888"/>
            <a:ext cx="9784080" cy="749808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2743200"/>
            <a:ext cx="9784080" cy="749808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2743200"/>
            <a:ext cx="274320" cy="749808"/>
          </a:xfrm>
          <a:prstGeom prst="rect">
            <a:avLst/>
          </a:prstGeom>
          <a:solidFill>
            <a:srgbClr val="C69A55"/>
          </a:solidFill>
          <a:ln w="127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0779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F4E8CF"/>
                </a:solidFill>
                <a:latin typeface="SimSun"/>
              </a:rPr>
              <a:t>组件白名单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62656"/>
            <a:ext cx="6766559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BFAE92"/>
                </a:solidFill>
                <a:latin typeface="FangSong"/>
              </a:rPr>
              <a:t>文本框、图片槽、结构图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2208" y="4002328"/>
            <a:ext cx="8595360" cy="749808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3977639"/>
            <a:ext cx="8595360" cy="749808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977639"/>
            <a:ext cx="274320" cy="749808"/>
          </a:xfrm>
          <a:prstGeom prst="rect">
            <a:avLst/>
          </a:prstGeom>
          <a:solidFill>
            <a:srgbClr val="6E7F68"/>
          </a:solidFill>
          <a:ln w="127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4142231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F4E8CF"/>
                </a:solidFill>
                <a:latin typeface="SimSun"/>
              </a:rPr>
              <a:t>页面版式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97096"/>
            <a:ext cx="557784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BFAE92"/>
                </a:solidFill>
                <a:latin typeface="FangSong"/>
              </a:rPr>
              <a:t>封面、目录、流程、时间线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6568" y="5236768"/>
            <a:ext cx="7406640" cy="749808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5212080"/>
            <a:ext cx="7406640" cy="749808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5212080"/>
            <a:ext cx="274320" cy="749808"/>
          </a:xfrm>
          <a:prstGeom prst="rect">
            <a:avLst/>
          </a:prstGeom>
          <a:solidFill>
            <a:srgbClr val="F4E8CF"/>
          </a:solidFill>
          <a:ln w="127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376672"/>
            <a:ext cx="20116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700" b="1">
                <a:solidFill>
                  <a:srgbClr val="F4E8CF"/>
                </a:solidFill>
                <a:latin typeface="SimSun"/>
              </a:rPr>
              <a:t>具体内容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31536"/>
            <a:ext cx="438912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350" b="0">
                <a:solidFill>
                  <a:srgbClr val="BFAE92"/>
                </a:solidFill>
                <a:latin typeface="FangSong"/>
              </a:rPr>
              <a:t>替换文字与素材，不临场发明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适用：系统分层 / 依赖关系 / 优先级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C08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对比图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左右对照 / 三栏对照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P08 /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88923" y="1720443"/>
            <a:ext cx="5440680" cy="43434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691640"/>
            <a:ext cx="5440680" cy="4343400"/>
          </a:xfrm>
          <a:prstGeom prst="rect">
            <a:avLst/>
          </a:prstGeom>
          <a:solidFill>
            <a:srgbClr val="241A13"/>
          </a:solidFill>
          <a:ln w="304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691640"/>
            <a:ext cx="5440680" cy="621792"/>
          </a:xfrm>
          <a:prstGeom prst="rect">
            <a:avLst/>
          </a:prstGeom>
          <a:solidFill>
            <a:srgbClr val="C69A55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F4E8CF"/>
                </a:solidFill>
                <a:latin typeface="SimSun"/>
              </a:rPr>
              <a:t>随机生成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风格漂移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文字容易满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图片乱摆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120640"/>
            <a:ext cx="155448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不采用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5443" y="1720443"/>
            <a:ext cx="5440680" cy="43434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691640"/>
            <a:ext cx="5440680" cy="4343400"/>
          </a:xfrm>
          <a:prstGeom prst="rect">
            <a:avLst/>
          </a:prstGeom>
          <a:solidFill>
            <a:srgbClr val="241A13"/>
          </a:solidFill>
          <a:ln w="304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691640"/>
            <a:ext cx="5440680" cy="621792"/>
          </a:xfrm>
          <a:prstGeom prst="rect">
            <a:avLst/>
          </a:prstGeom>
          <a:solidFill>
            <a:srgbClr val="B33A2E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2606040"/>
            <a:ext cx="438912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F4E8CF"/>
                </a:solidFill>
                <a:latin typeface="SimSun"/>
              </a:rPr>
              <a:t>组件驱动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747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组件白名单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图片先入槽</a:t>
            </a:r>
          </a:p>
          <a:p>
            <a:pPr algn="l">
              <a:lnSpc>
                <a:spcPct val="90000"/>
              </a:lnSpc>
            </a:pPr>
            <a:r>
              <a:rPr sz="2100" b="0">
                <a:solidFill>
                  <a:srgbClr val="BFAE92"/>
                </a:solidFill>
                <a:latin typeface="FangSong"/>
              </a:rPr>
              <a:t>输出可检查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19" y="5120640"/>
            <a:ext cx="155448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5189220"/>
            <a:ext cx="144475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采用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适用：方案对比 / 前后对比 / 取舍判断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C09 / IMAGE +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图文混排页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图大，字少，文字只做锚点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P09 / IMAGE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3368" y="1442008"/>
            <a:ext cx="7406640" cy="544068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7406640" cy="544068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09928"/>
            <a:ext cx="7004303" cy="478231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6362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565392"/>
            <a:ext cx="68945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横版主图 / 16:9 或近似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737360"/>
            <a:ext cx="42519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300" b="1">
                <a:solidFill>
                  <a:srgbClr val="F4E8CF"/>
                </a:solidFill>
                <a:latin typeface="SimSun"/>
              </a:rPr>
              <a:t>图片先决定页面气质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2788920"/>
            <a:ext cx="914400" cy="45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3108960"/>
            <a:ext cx="374903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BFAE92"/>
                </a:solidFill>
                <a:latin typeface="FangSong"/>
              </a:rPr>
              <a:t>这类页面只允许一段短说明。图片不是装饰，它是主内容。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5074920"/>
            <a:ext cx="114300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5143500"/>
            <a:ext cx="1033271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CAPTION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5486400"/>
            <a:ext cx="3657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00" b="0">
                <a:solidFill>
                  <a:srgbClr val="BFAE92"/>
                </a:solidFill>
                <a:latin typeface="Consolas"/>
              </a:rPr>
              <a:t>图片来源 / 生成提示 / 风格化说明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适用：多图章节 / 案例页 / 插画解释页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C10 / COLLAGE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图片拼贴页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主图 + 辅图，不平均分配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P10 / COLLAGE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3368" y="1442008"/>
            <a:ext cx="6035040" cy="534924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417320"/>
            <a:ext cx="6035040" cy="534924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09928"/>
            <a:ext cx="5632703" cy="469087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156362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473951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主图槽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5608" y="1442008"/>
            <a:ext cx="2834640" cy="224028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417320"/>
            <a:ext cx="2834640" cy="224028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62088" y="1709928"/>
            <a:ext cx="2432304" cy="158191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156362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986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IMG-E1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辅图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86008" y="1442008"/>
            <a:ext cx="2834640" cy="224028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61320" y="1417320"/>
            <a:ext cx="2834640" cy="224028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62488" y="1709928"/>
            <a:ext cx="2432304" cy="158191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44200" y="156362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99064" y="163220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IMG-E2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7352" y="33649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辅图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5608" y="4093768"/>
            <a:ext cx="6035040" cy="269748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4069080"/>
            <a:ext cx="6035040" cy="269748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62088" y="4361688"/>
            <a:ext cx="5632703" cy="203911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421538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4" y="428396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IMG-B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6473952"/>
            <a:ext cx="5522975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宽幅辅图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6967728"/>
            <a:ext cx="5669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BFAE92"/>
                </a:solidFill>
                <a:latin typeface="FangSong"/>
              </a:rPr>
              <a:t>拼贴不是网格平均分。主图必须明确，辅图只做证据。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适用：案例合集 / 视觉证据 / 多图讲述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C11 / MASTER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IP / Logo 母版页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Logo 原样，IP 风格化后入槽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P11 / MASTER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3368" y="1533448"/>
            <a:ext cx="4160520" cy="233172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08760"/>
            <a:ext cx="4160520" cy="2331720"/>
          </a:xfrm>
          <a:prstGeom prst="rect">
            <a:avLst/>
          </a:prstGeom>
          <a:solidFill>
            <a:srgbClr val="241A13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2560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4E8CF"/>
                </a:solidFill>
                <a:latin typeface="SimSun"/>
              </a:rPr>
              <a:t>Logo：原样角标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7872" y="1993392"/>
            <a:ext cx="1024128" cy="329184"/>
          </a:xfrm>
          <a:prstGeom prst="rect">
            <a:avLst/>
          </a:prstGeom>
          <a:solidFill>
            <a:srgbClr val="17110C"/>
          </a:solidFill>
          <a:ln w="1397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841248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20" b="0">
                <a:solidFill>
                  <a:srgbClr val="BFAE92"/>
                </a:solidFill>
                <a:latin typeface="Consolas"/>
              </a:rPr>
              <a:t>USER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87168"/>
            <a:ext cx="32004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BFAE92"/>
                </a:solidFill>
                <a:latin typeface="FangSong"/>
              </a:rPr>
              <a:t>不重绘、不改色、不套颗粒。</a:t>
            </a:r>
          </a:p>
          <a:p>
            <a:pPr algn="l"/>
            <a:r>
              <a:rPr sz="1400" b="0">
                <a:solidFill>
                  <a:srgbClr val="BFAE92"/>
                </a:solidFill>
                <a:latin typeface="FangSong"/>
              </a:rPr>
              <a:t>只做小尺寸固定角标。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48248" y="1533448"/>
            <a:ext cx="7726679" cy="2331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1508760"/>
            <a:ext cx="7726679" cy="2331720"/>
          </a:xfrm>
          <a:prstGeom prst="rect">
            <a:avLst/>
          </a:prstGeom>
          <a:solidFill>
            <a:srgbClr val="0E0A07"/>
          </a:solidFill>
          <a:ln w="266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1828800"/>
            <a:ext cx="27432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8F1E2"/>
                </a:solidFill>
                <a:latin typeface="SimSun"/>
              </a:rPr>
              <a:t>IP：必须先风格化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423160"/>
            <a:ext cx="61264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00" b="0">
                <a:solidFill>
                  <a:srgbClr val="F8F1E2"/>
                </a:solidFill>
                <a:latin typeface="FangSong"/>
              </a:rPr>
              <a:t>用户提供原图 → 确认保留特征 → 图生图转成双色老印刷 → 抠图入槽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368" y="4368088"/>
            <a:ext cx="3291840" cy="20574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343400"/>
            <a:ext cx="3291840" cy="20574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" y="4636008"/>
            <a:ext cx="2889504" cy="139903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448970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IP-A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6108192"/>
            <a:ext cx="27797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主视觉 IP 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0968" y="4368088"/>
            <a:ext cx="2743200" cy="20574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343400"/>
            <a:ext cx="2743200" cy="20574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27448" y="4636008"/>
            <a:ext cx="2340864" cy="139903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448970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IP-B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6108192"/>
            <a:ext cx="223113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旁白 IP 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9928" y="4368088"/>
            <a:ext cx="2468880" cy="205740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4343400"/>
            <a:ext cx="2468880" cy="20574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36408" y="4636008"/>
            <a:ext cx="2066544" cy="139903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19" y="448970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72983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IP-C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1" y="6108192"/>
            <a:ext cx="195681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动作 IP 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94568" y="4368088"/>
            <a:ext cx="2834640" cy="2057400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69880" y="4343400"/>
            <a:ext cx="2834640" cy="20574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71048" y="4636008"/>
            <a:ext cx="2432304" cy="1399032"/>
          </a:xfrm>
          <a:prstGeom prst="rect">
            <a:avLst/>
          </a:prstGeom>
          <a:solidFill>
            <a:srgbClr val="17110C"/>
          </a:solidFill>
          <a:ln w="1524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52759" y="4489704"/>
            <a:ext cx="1417320" cy="256032"/>
          </a:xfrm>
          <a:prstGeom prst="rect">
            <a:avLst/>
          </a:prstGeom>
          <a:solidFill>
            <a:srgbClr val="F4E8CF"/>
          </a:solidFill>
          <a:ln w="635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07624" y="4558284"/>
            <a:ext cx="1307592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60" b="0">
                <a:solidFill>
                  <a:srgbClr val="17110C"/>
                </a:solidFill>
                <a:latin typeface="Consolas"/>
              </a:rPr>
              <a:t>IP-D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1" y="6108192"/>
            <a:ext cx="2322576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650" b="0">
                <a:solidFill>
                  <a:srgbClr val="BFAE92"/>
                </a:solidFill>
                <a:latin typeface="Consolas"/>
              </a:rPr>
              <a:t>流程小图标槽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适用：品牌母版 / 角色资产 / 统一出图规则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C12 / IMAGE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出图资产页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把生图变成可控页面元素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P12 / IMAGE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566928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3700" b="1">
                <a:solidFill>
                  <a:srgbClr val="F4E8CF"/>
                </a:solidFill>
                <a:latin typeface="SimSun"/>
              </a:rPr>
              <a:t>出图不是自由发挥</a:t>
            </a:r>
          </a:p>
          <a:p>
            <a:pPr algn="l">
              <a:lnSpc>
                <a:spcPct val="86000"/>
              </a:lnSpc>
            </a:pPr>
            <a:r>
              <a:rPr sz="3700" b="1">
                <a:solidFill>
                  <a:srgbClr val="F4E8CF"/>
                </a:solidFill>
                <a:latin typeface="SimSun"/>
              </a:rPr>
              <a:t>而是进入槽位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53035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BFAE92"/>
                </a:solidFill>
                <a:latin typeface="FangSong"/>
              </a:rPr>
              <a:t>每张图都要先确定：用途、比例、是否抠图、是否需要图生图统一风格。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471" y="1622831"/>
            <a:ext cx="2697480" cy="150876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600200"/>
            <a:ext cx="2697480" cy="1508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22007" y="1801368"/>
            <a:ext cx="475488" cy="475488"/>
          </a:xfrm>
          <a:prstGeom prst="rect">
            <a:avLst/>
          </a:prstGeom>
          <a:solidFill>
            <a:srgbClr val="B33A2E"/>
          </a:solidFill>
          <a:ln w="1651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3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F4E8CF"/>
                </a:solidFill>
                <a:latin typeface="SimSun"/>
              </a:rPr>
              <a:t>原图输入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BFAE92"/>
                </a:solidFill>
                <a:latin typeface="FangSong"/>
              </a:rPr>
              <a:t>用户图 / 素材图 / 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98151" y="1622831"/>
            <a:ext cx="2697480" cy="150876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0" y="1600200"/>
            <a:ext cx="2697480" cy="1508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76688" y="1801368"/>
            <a:ext cx="475488" cy="475488"/>
          </a:xfrm>
          <a:prstGeom prst="rect">
            <a:avLst/>
          </a:prstGeom>
          <a:solidFill>
            <a:srgbClr val="C69A55"/>
          </a:solidFill>
          <a:ln w="1651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1911095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Georgia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6768" y="1874519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F4E8CF"/>
                </a:solidFill>
                <a:latin typeface="SimSun"/>
              </a:rPr>
              <a:t>风格化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4144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BFAE92"/>
                </a:solidFill>
                <a:latin typeface="FangSong"/>
              </a:rPr>
              <a:t>双色、纸感、网点、错位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3471" y="3863111"/>
            <a:ext cx="2697480" cy="150876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840480"/>
            <a:ext cx="2697480" cy="1508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22007" y="4041648"/>
            <a:ext cx="475488" cy="475488"/>
          </a:xfrm>
          <a:prstGeom prst="rect">
            <a:avLst/>
          </a:prstGeom>
          <a:solidFill>
            <a:srgbClr val="6E7F68"/>
          </a:solidFill>
          <a:ln w="1651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3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4E8CF"/>
                </a:solidFill>
                <a:latin typeface="Georgia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F4E8CF"/>
                </a:solidFill>
                <a:latin typeface="SimSun"/>
              </a:rPr>
              <a:t>抠图裁切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BFAE92"/>
                </a:solidFill>
                <a:latin typeface="FangSong"/>
              </a:rPr>
              <a:t>透明 PNG / 固定比例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98151" y="3863111"/>
            <a:ext cx="2697480" cy="1508760"/>
          </a:xfrm>
          <a:prstGeom prst="rect">
            <a:avLst/>
          </a:prstGeom>
          <a:solidFill>
            <a:srgbClr val="F4E8CF"/>
          </a:solidFill>
          <a:ln w="127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3840480"/>
            <a:ext cx="2697480" cy="150876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76688" y="4041648"/>
            <a:ext cx="475488" cy="475488"/>
          </a:xfrm>
          <a:prstGeom prst="rect">
            <a:avLst/>
          </a:prstGeom>
          <a:solidFill>
            <a:srgbClr val="F4E8CF"/>
          </a:solidFill>
          <a:ln w="1651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8984" y="4151376"/>
            <a:ext cx="310896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300" b="0">
                <a:solidFill>
                  <a:srgbClr val="F8F1E2"/>
                </a:solidFill>
                <a:latin typeface="Georgia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6768" y="411480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600" b="1">
                <a:solidFill>
                  <a:srgbClr val="F4E8CF"/>
                </a:solidFill>
                <a:latin typeface="SimSun"/>
              </a:rPr>
              <a:t>进入槽位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200" b="0">
                <a:solidFill>
                  <a:srgbClr val="BFAE92"/>
                </a:solidFill>
                <a:latin typeface="FangSong"/>
              </a:rPr>
              <a:t>A/B/C/D/E 图片容器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9088" y="4916728"/>
            <a:ext cx="5349240" cy="13716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4892040"/>
            <a:ext cx="5349240" cy="1371600"/>
          </a:xfrm>
          <a:prstGeom prst="rect">
            <a:avLst/>
          </a:prstGeom>
          <a:solidFill>
            <a:srgbClr val="0E0A07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5349240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550" b="0">
                <a:solidFill>
                  <a:srgbClr val="F8F1E2"/>
                </a:solidFill>
                <a:latin typeface="FangSong"/>
              </a:rPr>
              <a:t>运行时必须问：有没有 logo？有没有 IP？是否允许风格化和抠图？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适用：出图任务 / 图生图 / 图片资产收口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53035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950" b="0">
                <a:solidFill>
                  <a:srgbClr val="BFAE92"/>
                </a:solidFill>
                <a:latin typeface="Consolas"/>
              </a:rPr>
              <a:t>C13 / CARD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694944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100" b="1">
                <a:solidFill>
                  <a:srgbClr val="F4E8CF"/>
                </a:solidFill>
                <a:latin typeface="SimSun"/>
              </a:rPr>
              <a:t>并列卡片组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84048"/>
            <a:ext cx="480060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/>
            <a:r>
              <a:rPr sz="850" b="0">
                <a:solidFill>
                  <a:srgbClr val="BFAE92"/>
                </a:solidFill>
                <a:latin typeface="Consolas"/>
              </a:rPr>
              <a:t>同字段 / 同权重 / 无方向关系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644383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780" b="0">
                <a:solidFill>
                  <a:srgbClr val="BFAE92"/>
                </a:solidFill>
                <a:latin typeface="Consolas"/>
              </a:rPr>
              <a:t>P13 / CARD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4752" y="7479792"/>
            <a:ext cx="1078992" cy="292608"/>
          </a:xfrm>
          <a:prstGeom prst="rect">
            <a:avLst/>
          </a:prstGeom>
          <a:solidFill>
            <a:srgbClr val="241A13"/>
          </a:solidFill>
          <a:ln w="12700">
            <a:solidFill>
              <a:srgbClr val="BFAE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47904" y="7543800"/>
            <a:ext cx="932688" cy="91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630" b="0">
                <a:solidFill>
                  <a:srgbClr val="BFAE92"/>
                </a:solidFill>
                <a:latin typeface="Consolas"/>
              </a:rPr>
              <a:t>LOGO SLOT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89888"/>
            <a:ext cx="6583680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400" b="1">
                <a:solidFill>
                  <a:srgbClr val="F4E8CF"/>
                </a:solidFill>
                <a:latin typeface="SimSun"/>
              </a:rPr>
              <a:t>卡片只表达并列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76272"/>
            <a:ext cx="658368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800" b="0">
                <a:solidFill>
                  <a:srgbClr val="BFAE92"/>
                </a:solidFill>
                <a:latin typeface="FangSong"/>
              </a:rPr>
              <a:t>没有箭头、主轴、闭环或父子关系。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6866" y="2934538"/>
            <a:ext cx="3611880" cy="274320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907792"/>
            <a:ext cx="3611880" cy="27432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F4E8CF"/>
                </a:solidFill>
                <a:latin typeface="Georgia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886200"/>
            <a:ext cx="960120" cy="45720"/>
          </a:xfrm>
          <a:prstGeom prst="rect">
            <a:avLst/>
          </a:prstGeom>
          <a:solidFill>
            <a:srgbClr val="B33A2E"/>
          </a:solidFill>
          <a:ln w="1270">
            <a:solidFill>
              <a:srgbClr val="B3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4E8CF"/>
                </a:solidFill>
                <a:latin typeface="SimSun"/>
              </a:rPr>
              <a:t>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BFAE92"/>
                </a:solidFill>
                <a:latin typeface="FangSong"/>
              </a:rPr>
              <a:t>锁定页数和可见文字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7698" y="2934538"/>
            <a:ext cx="3611880" cy="274320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0952" y="2907792"/>
            <a:ext cx="3611880" cy="27432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4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F4E8CF"/>
                </a:solidFill>
                <a:latin typeface="Georgia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05272" y="3886200"/>
            <a:ext cx="960120" cy="45720"/>
          </a:xfrm>
          <a:prstGeom prst="rect">
            <a:avLst/>
          </a:prstGeom>
          <a:solidFill>
            <a:srgbClr val="C69A55"/>
          </a:solidFill>
          <a:ln w="1270">
            <a:solidFill>
              <a:srgbClr val="C69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4E8CF"/>
                </a:solidFill>
                <a:latin typeface="SimSun"/>
              </a:rPr>
              <a:t>形式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BFAE92"/>
                </a:solidFill>
                <a:latin typeface="FangSong"/>
              </a:rPr>
              <a:t>确认页面任务和变体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8530" y="2934538"/>
            <a:ext cx="3611880" cy="274320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01784" y="2907792"/>
            <a:ext cx="3611880" cy="2743200"/>
          </a:xfrm>
          <a:prstGeom prst="rect">
            <a:avLst/>
          </a:prstGeom>
          <a:solidFill>
            <a:srgbClr val="241A13"/>
          </a:solidFill>
          <a:ln w="2540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3236976"/>
            <a:ext cx="8412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3000" b="1">
                <a:solidFill>
                  <a:srgbClr val="F4E8CF"/>
                </a:solidFill>
                <a:latin typeface="Georgia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76104" y="3886200"/>
            <a:ext cx="960120" cy="45720"/>
          </a:xfrm>
          <a:prstGeom prst="rect">
            <a:avLst/>
          </a:prstGeom>
          <a:solidFill>
            <a:srgbClr val="6E7F68"/>
          </a:solidFill>
          <a:ln w="1270">
            <a:solidFill>
              <a:srgbClr val="6E7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4242816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2200" b="1">
                <a:solidFill>
                  <a:srgbClr val="F4E8CF"/>
                </a:solidFill>
                <a:latin typeface="SimSun"/>
              </a:rPr>
              <a:t>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4882896"/>
            <a:ext cx="283464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/>
            <a:r>
              <a:rPr sz="1450" b="0">
                <a:solidFill>
                  <a:srgbClr val="BFAE92"/>
                </a:solidFill>
                <a:latin typeface="FangSong"/>
              </a:rPr>
              <a:t>确认截图、插图和数据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1320" y="6720840"/>
            <a:ext cx="3383280" cy="566928"/>
          </a:xfrm>
          <a:prstGeom prst="rect">
            <a:avLst/>
          </a:prstGeom>
          <a:solidFill>
            <a:srgbClr val="241A13"/>
          </a:solidFill>
          <a:ln w="17780">
            <a:solidFill>
              <a:srgbClr val="F4E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6858000"/>
            <a:ext cx="3017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019" b="0">
                <a:solidFill>
                  <a:srgbClr val="BFAE92"/>
                </a:solidFill>
                <a:latin typeface="FangSong"/>
              </a:rPr>
              <a:t>适用：并列模块 / 案例 / 角色 / 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
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4F5963"/>
                </a:solidFill>
                <a:latin typeface="Consolas"/>
              </a:rPr>
              <a:t>C01 / STICKER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101014"/>
                </a:solidFill>
                <a:latin typeface="Arial Black"/>
              </a:rPr>
              <a:t>巨型标题页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4F5963"/>
                </a:solidFill>
                <a:latin typeface="Consolas"/>
              </a:rPr>
              <a:t>少字 / 大字 / 强入口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4F5963"/>
                </a:solidFill>
                <a:latin typeface="Consolas"/>
              </a:rPr>
              <a:t>P01 / GIANT TITLE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74752" y="7479792"/>
            <a:ext cx="10789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4F5963"/>
                </a:solidFill>
                <a:latin typeface="Consolas"/>
              </a:rPr>
              <a:t>LOGO SLOT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2540" y="1485900"/>
            <a:ext cx="4434840" cy="5349240"/>
          </a:xfrm>
          <a:prstGeom prst="roundRect">
            <a:avLst/>
          </a:prstGeom>
          <a:solidFill>
            <a:srgbClr val="21A8FF"/>
          </a:solidFill>
          <a:ln w="1270">
            <a:solidFill>
              <a:srgbClr val="21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23960" y="1417320"/>
            <a:ext cx="4434840" cy="5349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25128" y="1709928"/>
            <a:ext cx="4032503" cy="4690872"/>
          </a:xfrm>
          <a:prstGeom prst="roundRect">
            <a:avLst/>
          </a:prstGeom>
          <a:solidFill>
            <a:srgbClr val="F4FBFF"/>
          </a:solidFill>
          <a:ln w="1524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06840" y="1563624"/>
            <a:ext cx="1417320" cy="256032"/>
          </a:xfrm>
          <a:prstGeom prst="roundRect">
            <a:avLst/>
          </a:prstGeom>
          <a:solidFill>
            <a:srgbClr val="101014"/>
          </a:solidFill>
          <a:ln w="635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61704" y="163220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4FBFF"/>
                </a:solidFill>
                <a:latin typeface="Consolas"/>
              </a:rPr>
              <a:t>IMG-A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6473951"/>
            <a:ext cx="3922775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4F5963"/>
                </a:solidFill>
                <a:latin typeface="Consolas"/>
              </a:rPr>
              <a:t>竖版主图槽 4:5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481328"/>
            <a:ext cx="7223760" cy="2697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82000"/>
              </a:lnSpc>
            </a:pPr>
            <a:r>
              <a:rPr sz="5200" b="1">
                <a:solidFill>
                  <a:srgbClr val="101014"/>
                </a:solidFill>
                <a:latin typeface="Arial Black"/>
              </a:rPr>
              <a:t>可编辑</a:t>
            </a:r>
          </a:p>
          <a:p>
            <a:pPr algn="l">
              <a:lnSpc>
                <a:spcPct val="82000"/>
              </a:lnSpc>
            </a:pPr>
            <a:r>
              <a:rPr sz="5200" b="1">
                <a:solidFill>
                  <a:srgbClr val="101014"/>
                </a:solidFill>
                <a:latin typeface="Arial Black"/>
              </a:rPr>
              <a:t>PPT</a:t>
            </a:r>
          </a:p>
          <a:p>
            <a:pPr algn="l">
              <a:lnSpc>
                <a:spcPct val="82000"/>
              </a:lnSpc>
            </a:pPr>
            <a:r>
              <a:rPr sz="5200" b="1">
                <a:solidFill>
                  <a:srgbClr val="101014"/>
                </a:solidFill>
                <a:latin typeface="Arial Black"/>
              </a:rPr>
              <a:t>不是截图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617720"/>
            <a:ext cx="1005840" cy="45720"/>
          </a:xfrm>
          <a:prstGeom prst="roundRect">
            <a:avLst/>
          </a:prstGeom>
          <a:solidFill>
            <a:srgbClr val="FF4FA3"/>
          </a:solidFill>
          <a:ln w="127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892040"/>
            <a:ext cx="566928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000" b="0">
                <a:solidFill>
                  <a:srgbClr val="4F5963"/>
                </a:solidFill>
                <a:latin typeface="Microsoft YaHei UI"/>
              </a:rPr>
              <a:t>它是一套能被拆开、移动、重排、再编辑的出版组件。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61320" y="6720840"/>
            <a:ext cx="3383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4F5963"/>
                </a:solidFill>
                <a:latin typeface="Microsoft YaHei UI"/>
              </a:rPr>
              <a:t>适用：封面 / 章节页 / 大观点开场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4F5963"/>
                </a:solidFill>
                <a:latin typeface="Consolas"/>
              </a:rPr>
              <a:t>C02 /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101014"/>
                </a:solidFill>
                <a:latin typeface="Arial Black"/>
              </a:rPr>
              <a:t>一句话判断页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4F5963"/>
                </a:solidFill>
                <a:latin typeface="Consolas"/>
              </a:rPr>
              <a:t>一句话占主导，不写小作文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4F5963"/>
                </a:solidFill>
                <a:latin typeface="Consolas"/>
              </a:rPr>
              <a:t>P02 / ONE SENTENCE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74752" y="7479792"/>
            <a:ext cx="10789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4F5963"/>
                </a:solidFill>
                <a:latin typeface="Consolas"/>
              </a:rPr>
              <a:t>LOGO SLOT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691640"/>
            <a:ext cx="12161520" cy="3063240"/>
          </a:xfrm>
          <a:prstGeom prst="roundRect">
            <a:avLst/>
          </a:prstGeom>
          <a:solidFill>
            <a:srgbClr val="21A8FF"/>
          </a:solidFill>
          <a:ln w="1270">
            <a:solidFill>
              <a:srgbClr val="21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12161520" cy="3063240"/>
          </a:xfrm>
          <a:prstGeom prst="roundRect">
            <a:avLst/>
          </a:prstGeom>
          <a:solidFill>
            <a:srgbClr val="101014"/>
          </a:solidFill>
          <a:ln w="3048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011680"/>
            <a:ext cx="658368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86000"/>
              </a:lnSpc>
            </a:pPr>
            <a:r>
              <a:rPr sz="4300" b="1">
                <a:solidFill>
                  <a:srgbClr val="FFFFFF"/>
                </a:solidFill>
                <a:latin typeface="Arial Black"/>
              </a:rPr>
              <a:t>模型不能临场</a:t>
            </a:r>
          </a:p>
          <a:p>
            <a:pPr algn="l">
              <a:lnSpc>
                <a:spcPct val="86000"/>
              </a:lnSpc>
            </a:pPr>
            <a:r>
              <a:rPr sz="4300" b="1">
                <a:solidFill>
                  <a:srgbClr val="FFFFFF"/>
                </a:solidFill>
                <a:latin typeface="Arial Black"/>
              </a:rPr>
              <a:t>发明页面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611880"/>
            <a:ext cx="795527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icrosoft YaHei UI"/>
              </a:rPr>
              <a:t>它只能从组件白名单里选择、组合、替换内容。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1993392"/>
            <a:ext cx="2011680" cy="256032"/>
          </a:xfrm>
          <a:prstGeom prst="roundRect">
            <a:avLst/>
          </a:prstGeom>
          <a:solidFill>
            <a:srgbClr val="101014"/>
          </a:solidFill>
          <a:ln w="635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50424" y="2061972"/>
            <a:ext cx="190195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4FBFF"/>
                </a:solidFill>
                <a:latin typeface="Consolas"/>
              </a:rPr>
              <a:t>CORE JUDGEMENT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20" y="2743200"/>
            <a:ext cx="21945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onsolas"/>
              </a:rPr>
              <a:t>深底白字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onsolas"/>
              </a:rPr>
              <a:t>最多两行标题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61320" y="6720840"/>
            <a:ext cx="3383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4F5963"/>
                </a:solidFill>
                <a:latin typeface="Microsoft YaHei UI"/>
              </a:rPr>
              <a:t>适用：结论页 / 转场页 / 警示页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4F5963"/>
                </a:solidFill>
                <a:latin typeface="Consolas"/>
              </a:rPr>
              <a:t>C03 / BIG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101014"/>
                </a:solidFill>
                <a:latin typeface="Arial Black"/>
              </a:rPr>
              <a:t>大数字页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4F5963"/>
                </a:solidFill>
                <a:latin typeface="Consolas"/>
              </a:rPr>
              <a:t>数字是主角，文字只解释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4F5963"/>
                </a:solidFill>
                <a:latin typeface="Consolas"/>
              </a:rPr>
              <a:t>P03 / BIG NUMBER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74752" y="7479792"/>
            <a:ext cx="10789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4F5963"/>
                </a:solidFill>
                <a:latin typeface="Consolas"/>
              </a:rPr>
              <a:t>LOGO SLOT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572768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600" b="1">
                <a:solidFill>
                  <a:srgbClr val="FF4FA3"/>
                </a:solidFill>
                <a:latin typeface="Arial Black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600" b="1">
                <a:solidFill>
                  <a:srgbClr val="101014"/>
                </a:solidFill>
                <a:latin typeface="Arial Black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920240"/>
            <a:ext cx="201168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800" b="1">
                <a:solidFill>
                  <a:srgbClr val="101014"/>
                </a:solidFill>
                <a:latin typeface="Arial Black"/>
              </a:rPr>
              <a:t>类组件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657600"/>
            <a:ext cx="521208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000" b="0">
                <a:solidFill>
                  <a:srgbClr val="4F5963"/>
                </a:solidFill>
                <a:latin typeface="Microsoft YaHei UI"/>
              </a:rPr>
              <a:t>第一套组件库不追求多，追求少而稳定。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63665" y="1891665"/>
            <a:ext cx="2011680" cy="2651760"/>
          </a:xfrm>
          <a:prstGeom prst="roundRect">
            <a:avLst/>
          </a:prstGeom>
          <a:solidFill>
            <a:srgbClr val="21A8FF"/>
          </a:solidFill>
          <a:ln w="1270">
            <a:solidFill>
              <a:srgbClr val="21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011680" cy="2651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084831"/>
            <a:ext cx="109728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400" b="1">
                <a:solidFill>
                  <a:srgbClr val="101014"/>
                </a:solidFill>
                <a:latin typeface="Arial Black"/>
              </a:rPr>
              <a:t>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2788920"/>
            <a:ext cx="822960" cy="45720"/>
          </a:xfrm>
          <a:prstGeom prst="roundRect">
            <a:avLst/>
          </a:prstGeom>
          <a:solidFill>
            <a:srgbClr val="21A8FF"/>
          </a:solidFill>
          <a:ln w="1270">
            <a:solidFill>
              <a:srgbClr val="21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090672"/>
            <a:ext cx="1463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1">
                <a:solidFill>
                  <a:srgbClr val="101014"/>
                </a:solidFill>
                <a:latin typeface="Arial Black"/>
              </a:rPr>
              <a:t>图片槽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493008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250" b="0">
                <a:solidFill>
                  <a:srgbClr val="4F5963"/>
                </a:solidFill>
                <a:latin typeface="Microsoft YaHei UI"/>
              </a:rPr>
              <a:t>多图页面的核心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86825" y="1891665"/>
            <a:ext cx="2011680" cy="2651760"/>
          </a:xfrm>
          <a:prstGeom prst="roundRect">
            <a:avLst/>
          </a:prstGeom>
          <a:solidFill>
            <a:srgbClr val="FF4FA3"/>
          </a:solidFill>
          <a:ln w="127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23960" y="1828800"/>
            <a:ext cx="2011680" cy="2651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8" y="2084831"/>
            <a:ext cx="109728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400" b="1">
                <a:solidFill>
                  <a:srgbClr val="101014"/>
                </a:solidFill>
                <a:latin typeface="Arial Black"/>
              </a:rPr>
              <a:t>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788920"/>
            <a:ext cx="822960" cy="45720"/>
          </a:xfrm>
          <a:prstGeom prst="roundRect">
            <a:avLst/>
          </a:prstGeom>
          <a:solidFill>
            <a:srgbClr val="FF4FA3"/>
          </a:solidFill>
          <a:ln w="127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3090672"/>
            <a:ext cx="1463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1">
                <a:solidFill>
                  <a:srgbClr val="101014"/>
                </a:solidFill>
                <a:latin typeface="Arial Black"/>
              </a:rPr>
              <a:t>文本框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493008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250" b="0">
                <a:solidFill>
                  <a:srgbClr val="4F5963"/>
                </a:solidFill>
                <a:latin typeface="Microsoft YaHei UI"/>
              </a:rPr>
              <a:t>少字大字的基础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09985" y="1891665"/>
            <a:ext cx="2011680" cy="2651760"/>
          </a:xfrm>
          <a:prstGeom prst="roundRect">
            <a:avLst/>
          </a:prstGeom>
          <a:solidFill>
            <a:srgbClr val="B8F13C"/>
          </a:solidFill>
          <a:ln w="1270">
            <a:solidFill>
              <a:srgbClr val="B8F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247120" y="1828800"/>
            <a:ext cx="2011680" cy="2651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48288" y="2084831"/>
            <a:ext cx="109728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400" b="1">
                <a:solidFill>
                  <a:srgbClr val="101014"/>
                </a:solidFill>
                <a:latin typeface="Arial Black"/>
              </a:rP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75720" y="2788920"/>
            <a:ext cx="822960" cy="45720"/>
          </a:xfrm>
          <a:prstGeom prst="roundRect">
            <a:avLst/>
          </a:prstGeom>
          <a:solidFill>
            <a:srgbClr val="B8F13C"/>
          </a:solidFill>
          <a:ln w="1270">
            <a:solidFill>
              <a:srgbClr val="B8F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75720" y="3090672"/>
            <a:ext cx="1463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1">
                <a:solidFill>
                  <a:srgbClr val="101014"/>
                </a:solidFill>
                <a:latin typeface="Arial Black"/>
              </a:rPr>
              <a:t>结构图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3493008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250" b="0">
                <a:solidFill>
                  <a:srgbClr val="4F5963"/>
                </a:solidFill>
                <a:latin typeface="Microsoft YaHei UI"/>
              </a:rPr>
              <a:t>时间轴、循环、层级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61320" y="6720840"/>
            <a:ext cx="3383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4F5963"/>
                </a:solidFill>
                <a:latin typeface="Microsoft YaHei UI"/>
              </a:rPr>
              <a:t>适用：数据页 / 进度页 / 章节摘要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4F5963"/>
                </a:solidFill>
                <a:latin typeface="Consolas"/>
              </a:rPr>
              <a:t>C04 / PROCESS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101014"/>
                </a:solidFill>
                <a:latin typeface="Arial Black"/>
              </a:rPr>
              <a:t>流程卡组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4F5963"/>
                </a:solidFill>
                <a:latin typeface="Consolas"/>
              </a:rPr>
              <a:t>可复制的步骤文本框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4F5963"/>
                </a:solidFill>
                <a:latin typeface="Consolas"/>
              </a:rPr>
              <a:t>P04 / PROCESS CARDS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74752" y="7479792"/>
            <a:ext cx="10789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4F5963"/>
                </a:solidFill>
                <a:latin typeface="Consolas"/>
              </a:rPr>
              <a:t>LOGO SLOT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19" y="1943100"/>
            <a:ext cx="2788920" cy="3886200"/>
          </a:xfrm>
          <a:prstGeom prst="roundRect">
            <a:avLst/>
          </a:prstGeom>
          <a:solidFill>
            <a:srgbClr val="21A8FF"/>
          </a:solidFill>
          <a:ln w="1270">
            <a:solidFill>
              <a:srgbClr val="21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2788920" cy="3886200"/>
          </a:xfrm>
          <a:prstGeom prst="roundRect">
            <a:avLst/>
          </a:prstGeom>
          <a:solidFill>
            <a:srgbClr val="FFFFFF"/>
          </a:solidFill>
          <a:ln w="266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874519"/>
            <a:ext cx="2788920" cy="658368"/>
          </a:xfrm>
          <a:prstGeom prst="roundRect">
            <a:avLst/>
          </a:prstGeom>
          <a:solidFill>
            <a:srgbClr val="21A8FF"/>
          </a:solidFill>
          <a:ln w="266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993392"/>
            <a:ext cx="6583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139696"/>
            <a:ext cx="15087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840" b="0">
                <a:solidFill>
                  <a:srgbClr val="FFFFFF"/>
                </a:solidFill>
                <a:latin typeface="Consolas"/>
              </a:rPr>
              <a:t>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880360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100" b="1">
                <a:solidFill>
                  <a:srgbClr val="101014"/>
                </a:solidFill>
                <a:latin typeface="Arial Black"/>
              </a:rPr>
              <a:t>收集材料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3383280"/>
            <a:ext cx="1005840" cy="45720"/>
          </a:xfrm>
          <a:prstGeom prst="roundRect">
            <a:avLst/>
          </a:prstGeom>
          <a:solidFill>
            <a:srgbClr val="21A8FF"/>
          </a:solidFill>
          <a:ln w="1270">
            <a:solidFill>
              <a:srgbClr val="21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39"/>
            <a:ext cx="20574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lnSpc>
                <a:spcPct val="90000"/>
              </a:lnSpc>
            </a:pPr>
            <a:r>
              <a:rPr sz="1350">
                <a:solidFill>
                  <a:srgbClr val="4F5963"/>
                </a:solidFill>
                <a:latin typeface="Microsoft YaHei UI"/>
              </a:rPr>
              <a:t>· 文本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4F5963"/>
                </a:solidFill>
                <a:latin typeface="Microsoft YaHei UI"/>
              </a:rPr>
              <a:t>· 图片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4F5963"/>
                </a:solidFill>
                <a:latin typeface="Microsoft YaHei UI"/>
              </a:rPr>
              <a:t>· 品牌资产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83380" y="1943100"/>
            <a:ext cx="2788920" cy="3886200"/>
          </a:xfrm>
          <a:prstGeom prst="roundRect">
            <a:avLst/>
          </a:prstGeom>
          <a:solidFill>
            <a:srgbClr val="FF4FA3"/>
          </a:solidFill>
          <a:ln w="127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0" y="1874519"/>
            <a:ext cx="2788920" cy="3886200"/>
          </a:xfrm>
          <a:prstGeom prst="roundRect">
            <a:avLst/>
          </a:prstGeom>
          <a:solidFill>
            <a:srgbClr val="FFFFFF"/>
          </a:solidFill>
          <a:ln w="266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0" y="1874519"/>
            <a:ext cx="2788920" cy="658368"/>
          </a:xfrm>
          <a:prstGeom prst="roundRect">
            <a:avLst/>
          </a:prstGeom>
          <a:solidFill>
            <a:srgbClr val="FF4FA3"/>
          </a:solidFill>
          <a:ln w="266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9392" y="1993392"/>
            <a:ext cx="6583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139696"/>
            <a:ext cx="15087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840" b="0">
                <a:solidFill>
                  <a:srgbClr val="FFFFFF"/>
                </a:solidFill>
                <a:latin typeface="Consolas"/>
              </a:rPr>
              <a:t>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2880360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100" b="1">
                <a:solidFill>
                  <a:srgbClr val="101014"/>
                </a:solidFill>
                <a:latin typeface="Arial Black"/>
              </a:rPr>
              <a:t>拆成组件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3383280"/>
            <a:ext cx="1005840" cy="45720"/>
          </a:xfrm>
          <a:prstGeom prst="roundRect">
            <a:avLst/>
          </a:prstGeom>
          <a:solidFill>
            <a:srgbClr val="FF4FA3"/>
          </a:solidFill>
          <a:ln w="127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749039"/>
            <a:ext cx="20574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lnSpc>
                <a:spcPct val="90000"/>
              </a:lnSpc>
            </a:pPr>
            <a:r>
              <a:rPr sz="1350">
                <a:solidFill>
                  <a:srgbClr val="4F5963"/>
                </a:solidFill>
                <a:latin typeface="Microsoft YaHei UI"/>
              </a:rPr>
              <a:t>· 内容压缩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4F5963"/>
                </a:solidFill>
                <a:latin typeface="Microsoft YaHei UI"/>
              </a:rPr>
              <a:t>· 图片入槽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4F5963"/>
                </a:solidFill>
                <a:latin typeface="Microsoft YaHei UI"/>
              </a:rPr>
              <a:t>· 字体检查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20940" y="1943100"/>
            <a:ext cx="2788920" cy="3886200"/>
          </a:xfrm>
          <a:prstGeom prst="roundRect">
            <a:avLst/>
          </a:prstGeom>
          <a:solidFill>
            <a:srgbClr val="B8F13C"/>
          </a:solidFill>
          <a:ln w="1270">
            <a:solidFill>
              <a:srgbClr val="B8F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1874519"/>
            <a:ext cx="2788920" cy="3886200"/>
          </a:xfrm>
          <a:prstGeom prst="roundRect">
            <a:avLst/>
          </a:prstGeom>
          <a:solidFill>
            <a:srgbClr val="FFFFFF"/>
          </a:solidFill>
          <a:ln w="266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52360" y="1874519"/>
            <a:ext cx="2788920" cy="658368"/>
          </a:xfrm>
          <a:prstGeom prst="roundRect">
            <a:avLst/>
          </a:prstGeom>
          <a:solidFill>
            <a:srgbClr val="B8F13C"/>
          </a:solidFill>
          <a:ln w="266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6952" y="1993392"/>
            <a:ext cx="6583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800" b="1">
                <a:solidFill>
                  <a:srgbClr val="101014"/>
                </a:solidFill>
                <a:latin typeface="Arial Black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139696"/>
            <a:ext cx="15087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840" b="0">
                <a:solidFill>
                  <a:srgbClr val="101014"/>
                </a:solidFill>
                <a:latin typeface="Consolas"/>
              </a:rPr>
              <a:t>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4968" y="2880360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100" b="1">
                <a:solidFill>
                  <a:srgbClr val="101014"/>
                </a:solidFill>
                <a:latin typeface="Arial Black"/>
              </a:rPr>
              <a:t>拼成页面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54112" y="3383280"/>
            <a:ext cx="1005840" cy="45720"/>
          </a:xfrm>
          <a:prstGeom prst="roundRect">
            <a:avLst/>
          </a:prstGeom>
          <a:solidFill>
            <a:srgbClr val="B8F13C"/>
          </a:solidFill>
          <a:ln w="1270">
            <a:solidFill>
              <a:srgbClr val="B8F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3749039"/>
            <a:ext cx="20574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lnSpc>
                <a:spcPct val="90000"/>
              </a:lnSpc>
            </a:pPr>
            <a:r>
              <a:rPr sz="1350">
                <a:solidFill>
                  <a:srgbClr val="4F5963"/>
                </a:solidFill>
                <a:latin typeface="Microsoft YaHei UI"/>
              </a:rPr>
              <a:t>· 选择版式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4F5963"/>
                </a:solidFill>
                <a:latin typeface="Microsoft YaHei UI"/>
              </a:rPr>
              <a:t>· 替换文案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4F5963"/>
                </a:solidFill>
                <a:latin typeface="Microsoft YaHei UI"/>
              </a:rPr>
              <a:t>· 输出 PPT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58499" y="1943100"/>
            <a:ext cx="2788920" cy="3886200"/>
          </a:xfrm>
          <a:prstGeom prst="roundRect">
            <a:avLst/>
          </a:prstGeom>
          <a:solidFill>
            <a:srgbClr val="101014"/>
          </a:solidFill>
          <a:ln w="12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789919" y="1874519"/>
            <a:ext cx="2788920" cy="3886200"/>
          </a:xfrm>
          <a:prstGeom prst="roundRect">
            <a:avLst/>
          </a:prstGeom>
          <a:solidFill>
            <a:srgbClr val="FFFFFF"/>
          </a:solidFill>
          <a:ln w="266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789919" y="1874519"/>
            <a:ext cx="2788920" cy="658368"/>
          </a:xfrm>
          <a:prstGeom prst="roundRect">
            <a:avLst/>
          </a:prstGeom>
          <a:solidFill>
            <a:srgbClr val="101014"/>
          </a:solidFill>
          <a:ln w="266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54511" y="1993392"/>
            <a:ext cx="6583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 Black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50040" y="2139696"/>
            <a:ext cx="15087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840" b="0">
                <a:solidFill>
                  <a:srgbClr val="FFFFFF"/>
                </a:solidFill>
                <a:latin typeface="Consolas"/>
              </a:rPr>
              <a:t>检查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2528" y="2880360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100" b="1">
                <a:solidFill>
                  <a:srgbClr val="101014"/>
                </a:solidFill>
                <a:latin typeface="Arial Black"/>
              </a:rPr>
              <a:t>人工审美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091672" y="3383280"/>
            <a:ext cx="1005840" cy="45720"/>
          </a:xfrm>
          <a:prstGeom prst="roundRect">
            <a:avLst/>
          </a:prstGeom>
          <a:solidFill>
            <a:srgbClr val="101014"/>
          </a:solidFill>
          <a:ln w="12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09959" y="3749039"/>
            <a:ext cx="20574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lnSpc>
                <a:spcPct val="90000"/>
              </a:lnSpc>
            </a:pPr>
            <a:r>
              <a:rPr sz="1350">
                <a:solidFill>
                  <a:srgbClr val="4F5963"/>
                </a:solidFill>
                <a:latin typeface="Microsoft YaHei UI"/>
              </a:rPr>
              <a:t>· 可编辑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4F5963"/>
                </a:solidFill>
                <a:latin typeface="Microsoft YaHei UI"/>
              </a:rPr>
              <a:t>· 不出框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4F5963"/>
                </a:solidFill>
                <a:latin typeface="Microsoft YaHei UI"/>
              </a:rPr>
              <a:t>· 风格统一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61320" y="6720840"/>
            <a:ext cx="3383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4F5963"/>
                </a:solidFill>
                <a:latin typeface="Microsoft YaHei UI"/>
              </a:rPr>
              <a:t>适用：线性流程 / 方法论步骤 / 操作说明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4F5963"/>
                </a:solidFill>
                <a:latin typeface="Consolas"/>
              </a:rPr>
              <a:t>C05 /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101014"/>
                </a:solidFill>
                <a:latin typeface="Arial Black"/>
              </a:rPr>
              <a:t>时间轴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4F5963"/>
                </a:solidFill>
                <a:latin typeface="Consolas"/>
              </a:rPr>
              <a:t>横向主轴 + 事件卡片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4F5963"/>
                </a:solidFill>
                <a:latin typeface="Consolas"/>
              </a:rPr>
              <a:t>P05 / TIMELINE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74752" y="7479792"/>
            <a:ext cx="10789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4F5963"/>
                </a:solidFill>
                <a:latin typeface="Consolas"/>
              </a:rPr>
              <a:t>LOGO SLOT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4069080"/>
            <a:ext cx="11978640" cy="0"/>
          </a:xfrm>
          <a:prstGeom prst="line">
            <a:avLst/>
          </a:prstGeom>
          <a:ln w="114300">
            <a:solidFill>
              <a:srgbClr val="21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05840" y="4187952"/>
            <a:ext cx="11978640" cy="0"/>
          </a:xfrm>
          <a:prstGeom prst="line">
            <a:avLst/>
          </a:prstGeom>
          <a:ln w="50800">
            <a:solidFill>
              <a:srgbClr val="FF4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4984" y="1115568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400" b="1">
                <a:solidFill>
                  <a:srgbClr val="FF4FA3"/>
                </a:solidFill>
                <a:latin typeface="Arial Black"/>
              </a:rPr>
              <a:t>1920s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051560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400" b="1">
                <a:solidFill>
                  <a:srgbClr val="101014"/>
                </a:solidFill>
                <a:latin typeface="Arial Black"/>
              </a:rPr>
              <a:t>1920s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8710" y="2205990"/>
            <a:ext cx="2286000" cy="1143000"/>
          </a:xfrm>
          <a:prstGeom prst="roundRect">
            <a:avLst/>
          </a:prstGeom>
          <a:solidFill>
            <a:srgbClr val="21A8FF"/>
          </a:solidFill>
          <a:ln w="1270">
            <a:solidFill>
              <a:srgbClr val="21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2148840"/>
            <a:ext cx="2286000" cy="1143000"/>
          </a:xfrm>
          <a:prstGeom prst="roundRect">
            <a:avLst/>
          </a:prstGeom>
          <a:solidFill>
            <a:srgbClr val="101014"/>
          </a:solidFill>
          <a:ln w="2286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148840"/>
            <a:ext cx="2286000" cy="347472"/>
          </a:xfrm>
          <a:prstGeom prst="roundRect">
            <a:avLst/>
          </a:prstGeom>
          <a:solidFill>
            <a:srgbClr val="21A8FF"/>
          </a:solidFill>
          <a:ln w="2032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221992"/>
            <a:ext cx="19659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 Black"/>
              </a:rPr>
              <a:t>源头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2633472"/>
            <a:ext cx="1828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 UI"/>
              </a:rPr>
              <a:t>小众出版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 UI"/>
              </a:rPr>
              <a:t>手作表达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3291840"/>
            <a:ext cx="0" cy="758951"/>
          </a:xfrm>
          <a:prstGeom prst="line">
            <a:avLst/>
          </a:prstGeom>
          <a:ln w="27940">
            <a:solidFill>
              <a:srgbClr val="101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26864" y="704088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4600" b="1">
                <a:solidFill>
                  <a:srgbClr val="FF4FA3"/>
                </a:solidFill>
                <a:latin typeface="Arial Black"/>
              </a:rPr>
              <a:t>1976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0080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4600" b="1">
                <a:solidFill>
                  <a:srgbClr val="101014"/>
                </a:solidFill>
                <a:latin typeface="Arial Black"/>
              </a:rPr>
              <a:t>1976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20590" y="1794510"/>
            <a:ext cx="2286000" cy="1143000"/>
          </a:xfrm>
          <a:prstGeom prst="roundRect">
            <a:avLst/>
          </a:prstGeom>
          <a:solidFill>
            <a:srgbClr val="B8F13C"/>
          </a:solidFill>
          <a:ln w="1270">
            <a:solidFill>
              <a:srgbClr val="B8F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63440" y="1737360"/>
            <a:ext cx="2286000" cy="1143000"/>
          </a:xfrm>
          <a:prstGeom prst="roundRect">
            <a:avLst/>
          </a:prstGeom>
          <a:solidFill>
            <a:srgbClr val="101014"/>
          </a:solidFill>
          <a:ln w="2286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63440" y="1737360"/>
            <a:ext cx="2286000" cy="347472"/>
          </a:xfrm>
          <a:prstGeom prst="roundRect">
            <a:avLst/>
          </a:prstGeom>
          <a:solidFill>
            <a:srgbClr val="B8F13C"/>
          </a:solidFill>
          <a:ln w="2032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1810512"/>
            <a:ext cx="19659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101014"/>
                </a:solidFill>
                <a:latin typeface="Arial Black"/>
              </a:rPr>
              <a:t>浪潮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221992"/>
            <a:ext cx="1828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 UI"/>
              </a:rPr>
              <a:t>ZINE 文化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 UI"/>
              </a:rPr>
              <a:t>开始扩散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06440" y="2880360"/>
            <a:ext cx="0" cy="1170431"/>
          </a:xfrm>
          <a:prstGeom prst="line">
            <a:avLst/>
          </a:prstGeom>
          <a:ln w="27940">
            <a:solidFill>
              <a:srgbClr val="101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38744" y="3785616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4600" b="1">
                <a:solidFill>
                  <a:srgbClr val="FF4FA3"/>
                </a:solidFill>
                <a:latin typeface="Arial Black"/>
              </a:rPr>
              <a:t>1991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721608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4600" b="1">
                <a:solidFill>
                  <a:srgbClr val="101014"/>
                </a:solidFill>
                <a:latin typeface="Arial Black"/>
              </a:rPr>
              <a:t>1991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32469" y="4876038"/>
            <a:ext cx="2286000" cy="1143000"/>
          </a:xfrm>
          <a:prstGeom prst="roundRect">
            <a:avLst/>
          </a:prstGeom>
          <a:solidFill>
            <a:srgbClr val="FF4FA3"/>
          </a:solidFill>
          <a:ln w="127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75319" y="4818888"/>
            <a:ext cx="2286000" cy="1143000"/>
          </a:xfrm>
          <a:prstGeom prst="roundRect">
            <a:avLst/>
          </a:prstGeom>
          <a:solidFill>
            <a:srgbClr val="101014"/>
          </a:solidFill>
          <a:ln w="2286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75319" y="4818888"/>
            <a:ext cx="2286000" cy="347472"/>
          </a:xfrm>
          <a:prstGeom prst="roundRect">
            <a:avLst/>
          </a:prstGeom>
          <a:solidFill>
            <a:srgbClr val="FF4FA3"/>
          </a:solidFill>
          <a:ln w="2032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4892040"/>
            <a:ext cx="19659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 Black"/>
              </a:rPr>
              <a:t>转折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9911" y="5303520"/>
            <a:ext cx="1828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 UI"/>
              </a:rPr>
              <a:t>社群、音乐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 UI"/>
              </a:rPr>
              <a:t>与女性主义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9418319" y="4050791"/>
            <a:ext cx="0" cy="1911097"/>
          </a:xfrm>
          <a:prstGeom prst="line">
            <a:avLst/>
          </a:prstGeom>
          <a:ln w="27940">
            <a:solidFill>
              <a:srgbClr val="101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1256264" y="978408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400" b="1">
                <a:solidFill>
                  <a:srgbClr val="FF4FA3"/>
                </a:solidFill>
                <a:latin typeface="Arial Black"/>
              </a:rPr>
              <a:t>2010s+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914400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400" b="1">
                <a:solidFill>
                  <a:srgbClr val="101014"/>
                </a:solidFill>
                <a:latin typeface="Arial Black"/>
              </a:rPr>
              <a:t>2010s+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49990" y="2068830"/>
            <a:ext cx="2286000" cy="1143000"/>
          </a:xfrm>
          <a:prstGeom prst="roundRect">
            <a:avLst/>
          </a:prstGeom>
          <a:solidFill>
            <a:srgbClr val="21A8FF"/>
          </a:solidFill>
          <a:ln w="1270">
            <a:solidFill>
              <a:srgbClr val="21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292840" y="2011680"/>
            <a:ext cx="2286000" cy="1143000"/>
          </a:xfrm>
          <a:prstGeom prst="roundRect">
            <a:avLst/>
          </a:prstGeom>
          <a:solidFill>
            <a:srgbClr val="101014"/>
          </a:solidFill>
          <a:ln w="2286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1292840" y="2011680"/>
            <a:ext cx="2286000" cy="347472"/>
          </a:xfrm>
          <a:prstGeom prst="roundRect">
            <a:avLst/>
          </a:prstGeom>
          <a:solidFill>
            <a:srgbClr val="21A8FF"/>
          </a:solidFill>
          <a:ln w="2032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0" y="2084832"/>
            <a:ext cx="19659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 Black"/>
              </a:rPr>
              <a:t>复兴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57432" y="2496312"/>
            <a:ext cx="1828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 UI"/>
              </a:rPr>
              <a:t>书展、馆藏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icrosoft YaHei UI"/>
              </a:rPr>
              <a:t>与独立出版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2435840" y="3154680"/>
            <a:ext cx="0" cy="896111"/>
          </a:xfrm>
          <a:prstGeom prst="line">
            <a:avLst/>
          </a:prstGeom>
          <a:ln w="27940">
            <a:solidFill>
              <a:srgbClr val="101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561320" y="6720840"/>
            <a:ext cx="3383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4F5963"/>
                </a:solidFill>
                <a:latin typeface="Microsoft YaHei UI"/>
              </a:rPr>
              <a:t>适用：历史线 / 项目里程碑 / 版本演进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4F5963"/>
                </a:solidFill>
                <a:latin typeface="Consolas"/>
              </a:rPr>
              <a:t>C06 /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101014"/>
                </a:solidFill>
                <a:latin typeface="Arial Black"/>
              </a:rPr>
              <a:t>循环图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4F5963"/>
                </a:solidFill>
                <a:latin typeface="Consolas"/>
              </a:rPr>
              <a:t>3-4 步循环，不做复杂飞轮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4F5963"/>
                </a:solidFill>
                <a:latin typeface="Consolas"/>
              </a:rPr>
              <a:t>P06 / 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74752" y="7479792"/>
            <a:ext cx="10789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4F5963"/>
                </a:solidFill>
                <a:latin typeface="Consolas"/>
              </a:rPr>
              <a:t>LOGO SLOT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38160" y="2148840"/>
            <a:ext cx="1417320" cy="1252728"/>
          </a:xfrm>
          <a:prstGeom prst="line">
            <a:avLst/>
          </a:prstGeom>
          <a:ln w="38100">
            <a:solidFill>
              <a:srgbClr val="21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138160" y="4572000"/>
            <a:ext cx="1645920" cy="1170432"/>
          </a:xfrm>
          <a:prstGeom prst="line">
            <a:avLst/>
          </a:prstGeom>
          <a:ln w="38100">
            <a:solidFill>
              <a:srgbClr val="FF4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5029200" y="4572000"/>
            <a:ext cx="1417320" cy="1188720"/>
          </a:xfrm>
          <a:prstGeom prst="line">
            <a:avLst/>
          </a:prstGeom>
          <a:ln w="38100">
            <a:solidFill>
              <a:srgbClr val="B8F1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074920" y="2148840"/>
            <a:ext cx="1371600" cy="1234440"/>
          </a:xfrm>
          <a:prstGeom prst="line">
            <a:avLst/>
          </a:prstGeom>
          <a:ln w="38100">
            <a:solidFill>
              <a:srgbClr val="101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686550" y="1337310"/>
            <a:ext cx="1371600" cy="822960"/>
          </a:xfrm>
          <a:prstGeom prst="roundRect">
            <a:avLst/>
          </a:prstGeom>
          <a:solidFill>
            <a:srgbClr val="21A8FF"/>
          </a:solidFill>
          <a:ln w="1270">
            <a:solidFill>
              <a:srgbClr val="21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29400" y="1280160"/>
            <a:ext cx="13716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463040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1">
                <a:solidFill>
                  <a:srgbClr val="21A8FF"/>
                </a:solidFill>
                <a:latin typeface="Arial Black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527048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00" b="1">
                <a:solidFill>
                  <a:srgbClr val="101014"/>
                </a:solidFill>
                <a:latin typeface="Arial Black"/>
              </a:rPr>
              <a:t>输入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12630" y="3623309"/>
            <a:ext cx="1371600" cy="822960"/>
          </a:xfrm>
          <a:prstGeom prst="roundRect">
            <a:avLst/>
          </a:prstGeom>
          <a:solidFill>
            <a:srgbClr val="FF4FA3"/>
          </a:solidFill>
          <a:ln w="127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55480" y="3566159"/>
            <a:ext cx="13716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59" y="3749039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1">
                <a:solidFill>
                  <a:srgbClr val="FF4FA3"/>
                </a:solidFill>
                <a:latin typeface="Arial Black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59" y="3813048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00" b="1">
                <a:solidFill>
                  <a:srgbClr val="101014"/>
                </a:solidFill>
                <a:latin typeface="Arial Black"/>
              </a:rPr>
              <a:t>生成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86550" y="5817870"/>
            <a:ext cx="1371600" cy="822960"/>
          </a:xfrm>
          <a:prstGeom prst="roundRect">
            <a:avLst/>
          </a:prstGeom>
          <a:solidFill>
            <a:srgbClr val="B8F13C"/>
          </a:solidFill>
          <a:ln w="1270">
            <a:solidFill>
              <a:srgbClr val="B8F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29400" y="5760720"/>
            <a:ext cx="13716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5943600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1">
                <a:solidFill>
                  <a:srgbClr val="B8F13C"/>
                </a:solidFill>
                <a:latin typeface="Arial Black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6007608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00" b="1">
                <a:solidFill>
                  <a:srgbClr val="101014"/>
                </a:solidFill>
                <a:latin typeface="Arial Black"/>
              </a:rPr>
              <a:t>检查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60470" y="3623309"/>
            <a:ext cx="1371600" cy="822960"/>
          </a:xfrm>
          <a:prstGeom prst="roundRect">
            <a:avLst/>
          </a:prstGeom>
          <a:solidFill>
            <a:srgbClr val="101014"/>
          </a:solidFill>
          <a:ln w="12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703320" y="3566159"/>
            <a:ext cx="13716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749039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1">
                <a:solidFill>
                  <a:srgbClr val="101014"/>
                </a:solidFill>
                <a:latin typeface="Arial Black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813048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00" b="1">
                <a:solidFill>
                  <a:srgbClr val="101014"/>
                </a:solidFill>
                <a:latin typeface="Arial Black"/>
              </a:rPr>
              <a:t>迭代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2057400"/>
            <a:ext cx="3840480" cy="8046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000" b="1">
                <a:solidFill>
                  <a:srgbClr val="101014"/>
                </a:solidFill>
                <a:latin typeface="Arial Black"/>
              </a:rPr>
              <a:t>一轮不求完美</a:t>
            </a:r>
          </a:p>
          <a:p>
            <a:pPr algn="l">
              <a:lnSpc>
                <a:spcPct val="90000"/>
              </a:lnSpc>
            </a:pPr>
            <a:r>
              <a:rPr sz="3000" b="1">
                <a:solidFill>
                  <a:srgbClr val="101014"/>
                </a:solidFill>
                <a:latin typeface="Arial Black"/>
              </a:rPr>
              <a:t>只求能被检查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749039"/>
            <a:ext cx="39319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700" b="0">
                <a:solidFill>
                  <a:srgbClr val="4F5963"/>
                </a:solidFill>
                <a:latin typeface="Microsoft YaHei UI"/>
              </a:rPr>
              <a:t>循环图用于表达反复校准的工作流，不用于承载大量文字。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61320" y="6720840"/>
            <a:ext cx="3383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4F5963"/>
                </a:solidFill>
                <a:latin typeface="Microsoft YaHei UI"/>
              </a:rPr>
              <a:t>适用：反馈循环 / 生成-检查-迭代 / 闭环系统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4F5963"/>
                </a:solidFill>
                <a:latin typeface="Consolas"/>
              </a:rPr>
              <a:t>C07 /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101014"/>
                </a:solidFill>
                <a:latin typeface="Arial Black"/>
              </a:rPr>
              <a:t>层级图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4F5963"/>
                </a:solidFill>
                <a:latin typeface="Consolas"/>
              </a:rPr>
              <a:t>堆叠卡 / 上下游 / 金字塔替代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4F5963"/>
                </a:solidFill>
                <a:latin typeface="Consolas"/>
              </a:rPr>
              <a:t>P07 / HIERARCHY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74752" y="7479792"/>
            <a:ext cx="10789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4F5963"/>
                </a:solidFill>
                <a:latin typeface="Consolas"/>
              </a:rPr>
              <a:t>LOGO SLOT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97380" y="1577339"/>
            <a:ext cx="10972800" cy="749808"/>
          </a:xfrm>
          <a:prstGeom prst="roundRect">
            <a:avLst/>
          </a:prstGeom>
          <a:solidFill>
            <a:srgbClr val="21A8FF"/>
          </a:solidFill>
          <a:ln w="1270">
            <a:solidFill>
              <a:srgbClr val="21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1508760"/>
            <a:ext cx="10972800" cy="749808"/>
          </a:xfrm>
          <a:prstGeom prst="roundRect">
            <a:avLst/>
          </a:prstGeom>
          <a:solidFill>
            <a:srgbClr val="FFFFFF"/>
          </a:solidFill>
          <a:ln w="266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1508760"/>
            <a:ext cx="274320" cy="749808"/>
          </a:xfrm>
          <a:prstGeom prst="roundRect">
            <a:avLst/>
          </a:prstGeom>
          <a:solidFill>
            <a:srgbClr val="21A8FF"/>
          </a:solidFill>
          <a:ln w="127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673351"/>
            <a:ext cx="20116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700" b="1">
                <a:solidFill>
                  <a:srgbClr val="101014"/>
                </a:solidFill>
                <a:latin typeface="Arial Black"/>
              </a:rPr>
              <a:t>视觉体系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28216"/>
            <a:ext cx="7955279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350" b="0">
                <a:solidFill>
                  <a:srgbClr val="4F5963"/>
                </a:solidFill>
                <a:latin typeface="Microsoft YaHei UI"/>
              </a:rPr>
              <a:t>颜色、字体、纹理、母版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91740" y="2811780"/>
            <a:ext cx="9784080" cy="749808"/>
          </a:xfrm>
          <a:prstGeom prst="roundRect">
            <a:avLst/>
          </a:prstGeom>
          <a:solidFill>
            <a:srgbClr val="FF4FA3"/>
          </a:solidFill>
          <a:ln w="127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23160" y="2743200"/>
            <a:ext cx="9784080" cy="749808"/>
          </a:xfrm>
          <a:prstGeom prst="roundRect">
            <a:avLst/>
          </a:prstGeom>
          <a:solidFill>
            <a:srgbClr val="FFFFFF"/>
          </a:solidFill>
          <a:ln w="266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23160" y="2743200"/>
            <a:ext cx="274320" cy="749808"/>
          </a:xfrm>
          <a:prstGeom prst="roundRect">
            <a:avLst/>
          </a:prstGeom>
          <a:solidFill>
            <a:srgbClr val="FF4FA3"/>
          </a:solidFill>
          <a:ln w="127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2907792"/>
            <a:ext cx="20116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700" b="1">
                <a:solidFill>
                  <a:srgbClr val="101014"/>
                </a:solidFill>
                <a:latin typeface="Arial Black"/>
              </a:rPr>
              <a:t>组件白名单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962656"/>
            <a:ext cx="6766559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350" b="0">
                <a:solidFill>
                  <a:srgbClr val="4F5963"/>
                </a:solidFill>
                <a:latin typeface="Microsoft YaHei UI"/>
              </a:rPr>
              <a:t>文本框、图片槽、结构图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86100" y="4046220"/>
            <a:ext cx="8595360" cy="749808"/>
          </a:xfrm>
          <a:prstGeom prst="roundRect">
            <a:avLst/>
          </a:prstGeom>
          <a:solidFill>
            <a:srgbClr val="B8F13C"/>
          </a:solidFill>
          <a:ln w="1270">
            <a:solidFill>
              <a:srgbClr val="B8F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017520" y="3977639"/>
            <a:ext cx="8595360" cy="749808"/>
          </a:xfrm>
          <a:prstGeom prst="roundRect">
            <a:avLst/>
          </a:prstGeom>
          <a:solidFill>
            <a:srgbClr val="FFFFFF"/>
          </a:solidFill>
          <a:ln w="266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17520" y="3977639"/>
            <a:ext cx="274320" cy="749808"/>
          </a:xfrm>
          <a:prstGeom prst="roundRect">
            <a:avLst/>
          </a:prstGeom>
          <a:solidFill>
            <a:srgbClr val="B8F13C"/>
          </a:solidFill>
          <a:ln w="127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39" y="4142231"/>
            <a:ext cx="20116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700" b="1">
                <a:solidFill>
                  <a:srgbClr val="101014"/>
                </a:solidFill>
                <a:latin typeface="Arial Black"/>
              </a:rPr>
              <a:t>页面版式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197096"/>
            <a:ext cx="557784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350" b="0">
                <a:solidFill>
                  <a:srgbClr val="4F5963"/>
                </a:solidFill>
                <a:latin typeface="Microsoft YaHei UI"/>
              </a:rPr>
              <a:t>封面、目录、流程、时间线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80460" y="5280660"/>
            <a:ext cx="7406640" cy="749808"/>
          </a:xfrm>
          <a:prstGeom prst="roundRect">
            <a:avLst/>
          </a:prstGeom>
          <a:solidFill>
            <a:srgbClr val="101014"/>
          </a:solidFill>
          <a:ln w="12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11880" y="5212080"/>
            <a:ext cx="7406640" cy="749808"/>
          </a:xfrm>
          <a:prstGeom prst="roundRect">
            <a:avLst/>
          </a:prstGeom>
          <a:solidFill>
            <a:srgbClr val="FFFFFF"/>
          </a:solidFill>
          <a:ln w="266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11880" y="5212080"/>
            <a:ext cx="274320" cy="749808"/>
          </a:xfrm>
          <a:prstGeom prst="roundRect">
            <a:avLst/>
          </a:prstGeom>
          <a:solidFill>
            <a:srgbClr val="101014"/>
          </a:solidFill>
          <a:ln w="127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5376672"/>
            <a:ext cx="20116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700" b="1">
                <a:solidFill>
                  <a:srgbClr val="101014"/>
                </a:solidFill>
                <a:latin typeface="Arial Black"/>
              </a:rPr>
              <a:t>具体内容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431536"/>
            <a:ext cx="43891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350" b="0">
                <a:solidFill>
                  <a:srgbClr val="4F5963"/>
                </a:solidFill>
                <a:latin typeface="Microsoft YaHei UI"/>
              </a:rPr>
              <a:t>替换文字与素材，不临场发明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61320" y="6720840"/>
            <a:ext cx="3383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4F5963"/>
                </a:solidFill>
                <a:latin typeface="Microsoft YaHei UI"/>
              </a:rPr>
              <a:t>适用：系统分层 / 依赖关系 / 优先级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4F5963"/>
                </a:solidFill>
                <a:latin typeface="Consolas"/>
              </a:rPr>
              <a:t>C08 /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101014"/>
                </a:solidFill>
                <a:latin typeface="Arial Black"/>
              </a:rPr>
              <a:t>对比图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4F5963"/>
                </a:solidFill>
                <a:latin typeface="Consolas"/>
              </a:rPr>
              <a:t>左右对照 / 三栏对照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4F5963"/>
                </a:solidFill>
                <a:latin typeface="Consolas"/>
              </a:rPr>
              <a:t>P08 /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74752" y="7479792"/>
            <a:ext cx="10789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4F5963"/>
                </a:solidFill>
                <a:latin typeface="Consolas"/>
              </a:rPr>
              <a:t>LOGO SLOT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0130" y="1771650"/>
            <a:ext cx="5440680" cy="4343400"/>
          </a:xfrm>
          <a:prstGeom prst="roundRect">
            <a:avLst/>
          </a:prstGeom>
          <a:solidFill>
            <a:srgbClr val="FF4FA3"/>
          </a:solidFill>
          <a:ln w="127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91640"/>
            <a:ext cx="5440680" cy="4343400"/>
          </a:xfrm>
          <a:prstGeom prst="roundRect">
            <a:avLst/>
          </a:prstGeom>
          <a:solidFill>
            <a:srgbClr val="FFFFFF"/>
          </a:solidFill>
          <a:ln w="3048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691640"/>
            <a:ext cx="5440680" cy="621792"/>
          </a:xfrm>
          <a:prstGeom prst="roundRect">
            <a:avLst/>
          </a:prstGeom>
          <a:solidFill>
            <a:srgbClr val="FF4FA3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606040"/>
            <a:ext cx="438912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000" b="1">
                <a:solidFill>
                  <a:srgbClr val="101014"/>
                </a:solidFill>
                <a:latin typeface="Arial Black"/>
              </a:rPr>
              <a:t>随机生成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74720"/>
            <a:ext cx="3657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100" b="0">
                <a:solidFill>
                  <a:srgbClr val="4F5963"/>
                </a:solidFill>
                <a:latin typeface="Microsoft YaHei UI"/>
              </a:rPr>
              <a:t>风格漂移</a:t>
            </a:r>
          </a:p>
          <a:p>
            <a:pPr algn="l">
              <a:lnSpc>
                <a:spcPct val="90000"/>
              </a:lnSpc>
            </a:pPr>
            <a:r>
              <a:rPr sz="2100" b="0">
                <a:solidFill>
                  <a:srgbClr val="4F5963"/>
                </a:solidFill>
                <a:latin typeface="Microsoft YaHei UI"/>
              </a:rPr>
              <a:t>文字容易满</a:t>
            </a:r>
          </a:p>
          <a:p>
            <a:pPr algn="l">
              <a:lnSpc>
                <a:spcPct val="90000"/>
              </a:lnSpc>
            </a:pPr>
            <a:r>
              <a:rPr sz="2100" b="0">
                <a:solidFill>
                  <a:srgbClr val="4F5963"/>
                </a:solidFill>
                <a:latin typeface="Microsoft YaHei UI"/>
              </a:rPr>
              <a:t>图片乱摆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120640"/>
            <a:ext cx="1554480" cy="256032"/>
          </a:xfrm>
          <a:prstGeom prst="roundRect">
            <a:avLst/>
          </a:prstGeom>
          <a:solidFill>
            <a:srgbClr val="101014"/>
          </a:solidFill>
          <a:ln w="635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6464" y="5189220"/>
            <a:ext cx="144475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4FBFF"/>
                </a:solidFill>
                <a:latin typeface="Consolas"/>
              </a:rPr>
              <a:t>不采用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86650" y="1771650"/>
            <a:ext cx="5440680" cy="4343400"/>
          </a:xfrm>
          <a:prstGeom prst="roundRect">
            <a:avLst/>
          </a:prstGeom>
          <a:solidFill>
            <a:srgbClr val="21A8FF"/>
          </a:solidFill>
          <a:ln w="1270">
            <a:solidFill>
              <a:srgbClr val="21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06640" y="1691640"/>
            <a:ext cx="5440680" cy="4343400"/>
          </a:xfrm>
          <a:prstGeom prst="roundRect">
            <a:avLst/>
          </a:prstGeom>
          <a:solidFill>
            <a:srgbClr val="FFFFFF"/>
          </a:solidFill>
          <a:ln w="3048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06640" y="1691640"/>
            <a:ext cx="5440680" cy="621792"/>
          </a:xfrm>
          <a:prstGeom prst="roundRect">
            <a:avLst/>
          </a:prstGeom>
          <a:solidFill>
            <a:srgbClr val="21A8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19" y="2606040"/>
            <a:ext cx="438912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000" b="1">
                <a:solidFill>
                  <a:srgbClr val="101014"/>
                </a:solidFill>
                <a:latin typeface="Arial Black"/>
              </a:rPr>
              <a:t>组件驱动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474720"/>
            <a:ext cx="3657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100" b="0">
                <a:solidFill>
                  <a:srgbClr val="4F5963"/>
                </a:solidFill>
                <a:latin typeface="Microsoft YaHei UI"/>
              </a:rPr>
              <a:t>组件白名单</a:t>
            </a:r>
          </a:p>
          <a:p>
            <a:pPr algn="l">
              <a:lnSpc>
                <a:spcPct val="90000"/>
              </a:lnSpc>
            </a:pPr>
            <a:r>
              <a:rPr sz="2100" b="0">
                <a:solidFill>
                  <a:srgbClr val="4F5963"/>
                </a:solidFill>
                <a:latin typeface="Microsoft YaHei UI"/>
              </a:rPr>
              <a:t>图片先入槽</a:t>
            </a:r>
          </a:p>
          <a:p>
            <a:pPr algn="l">
              <a:lnSpc>
                <a:spcPct val="90000"/>
              </a:lnSpc>
            </a:pPr>
            <a:r>
              <a:rPr sz="2100" b="0">
                <a:solidFill>
                  <a:srgbClr val="4F5963"/>
                </a:solidFill>
                <a:latin typeface="Microsoft YaHei UI"/>
              </a:rPr>
              <a:t>输出可检查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19" y="5120640"/>
            <a:ext cx="1554480" cy="256032"/>
          </a:xfrm>
          <a:prstGeom prst="roundRect">
            <a:avLst/>
          </a:prstGeom>
          <a:solidFill>
            <a:srgbClr val="101014"/>
          </a:solidFill>
          <a:ln w="635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72983" y="5189220"/>
            <a:ext cx="144475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4FBFF"/>
                </a:solidFill>
                <a:latin typeface="Consolas"/>
              </a:rPr>
              <a:t>采用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61320" y="6720840"/>
            <a:ext cx="3383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4F5963"/>
                </a:solidFill>
                <a:latin typeface="Microsoft YaHei UI"/>
              </a:rPr>
              <a:t>适用：方案对比 / 前后对比 / 取舍判断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4F5963"/>
                </a:solidFill>
                <a:latin typeface="Consolas"/>
              </a:rPr>
              <a:t>C09 / IMAGE +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101014"/>
                </a:solidFill>
                <a:latin typeface="Arial Black"/>
              </a:rPr>
              <a:t>图文混排页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4F5963"/>
                </a:solidFill>
                <a:latin typeface="Consolas"/>
              </a:rPr>
              <a:t>图大，字少，文字只做锚点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4F5963"/>
                </a:solidFill>
                <a:latin typeface="Consolas"/>
              </a:rPr>
              <a:t>P09 / IMAGE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74752" y="7479792"/>
            <a:ext cx="10789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4F5963"/>
                </a:solidFill>
                <a:latin typeface="Consolas"/>
              </a:rPr>
              <a:t>LOGO SLOT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59" y="1485900"/>
            <a:ext cx="7406640" cy="5440680"/>
          </a:xfrm>
          <a:prstGeom prst="roundRect">
            <a:avLst/>
          </a:prstGeom>
          <a:solidFill>
            <a:srgbClr val="21A8FF"/>
          </a:solidFill>
          <a:ln w="1270">
            <a:solidFill>
              <a:srgbClr val="21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7406640" cy="5440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69848" y="1709928"/>
            <a:ext cx="7004303" cy="4782312"/>
          </a:xfrm>
          <a:prstGeom prst="roundRect">
            <a:avLst/>
          </a:prstGeom>
          <a:solidFill>
            <a:srgbClr val="F4FBFF"/>
          </a:solidFill>
          <a:ln w="1524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" y="1563624"/>
            <a:ext cx="1417320" cy="256032"/>
          </a:xfrm>
          <a:prstGeom prst="roundRect">
            <a:avLst/>
          </a:prstGeom>
          <a:solidFill>
            <a:srgbClr val="101014"/>
          </a:solidFill>
          <a:ln w="635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163220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4FBFF"/>
                </a:solidFill>
                <a:latin typeface="Consolas"/>
              </a:rPr>
              <a:t>IMG-B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6565392"/>
            <a:ext cx="6894575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4F5963"/>
                </a:solidFill>
                <a:latin typeface="Consolas"/>
              </a:rPr>
              <a:t>横版主图 / 16:9 或近似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1737360"/>
            <a:ext cx="42519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300" b="1">
                <a:solidFill>
                  <a:srgbClr val="101014"/>
                </a:solidFill>
                <a:latin typeface="Arial Black"/>
              </a:rPr>
              <a:t>图片先决定页面气质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87968" y="2788920"/>
            <a:ext cx="914400" cy="45720"/>
          </a:xfrm>
          <a:prstGeom prst="roundRect">
            <a:avLst/>
          </a:prstGeom>
          <a:solidFill>
            <a:srgbClr val="FF4FA3"/>
          </a:solidFill>
          <a:ln w="127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7968" y="3108960"/>
            <a:ext cx="3749039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0">
                <a:solidFill>
                  <a:srgbClr val="4F5963"/>
                </a:solidFill>
                <a:latin typeface="Microsoft YaHei UI"/>
              </a:rPr>
              <a:t>这类页面只允许一段短说明。图片不是装饰，它是主内容。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7968" y="5074920"/>
            <a:ext cx="1143000" cy="256032"/>
          </a:xfrm>
          <a:prstGeom prst="roundRect">
            <a:avLst/>
          </a:prstGeom>
          <a:solidFill>
            <a:srgbClr val="101014"/>
          </a:solidFill>
          <a:ln w="635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5143500"/>
            <a:ext cx="1033271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4FBFF"/>
                </a:solidFill>
                <a:latin typeface="Consolas"/>
              </a:rPr>
              <a:t>CAPTION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5486400"/>
            <a:ext cx="3657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00" b="0">
                <a:solidFill>
                  <a:srgbClr val="4F5963"/>
                </a:solidFill>
                <a:latin typeface="Consolas"/>
              </a:rPr>
              <a:t>图片来源 / 生成提示 / 风格化说明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61320" y="6720840"/>
            <a:ext cx="3383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4F5963"/>
                </a:solidFill>
                <a:latin typeface="Microsoft YaHei UI"/>
              </a:rPr>
              <a:t>适用：多图章节 / 案例页 / 插画解释页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4F5963"/>
                </a:solidFill>
                <a:latin typeface="Consolas"/>
              </a:rPr>
              <a:t>C10 / COLLAGE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101014"/>
                </a:solidFill>
                <a:latin typeface="Arial Black"/>
              </a:rPr>
              <a:t>图片拼贴页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4F5963"/>
                </a:solidFill>
                <a:latin typeface="Consolas"/>
              </a:rPr>
              <a:t>主图 + 辅图，不平均分配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4F5963"/>
                </a:solidFill>
                <a:latin typeface="Consolas"/>
              </a:rPr>
              <a:t>P10 / COLLAGE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74752" y="7479792"/>
            <a:ext cx="10789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4F5963"/>
                </a:solidFill>
                <a:latin typeface="Consolas"/>
              </a:rPr>
              <a:t>LOGO SLOT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59" y="1485900"/>
            <a:ext cx="6035040" cy="5349240"/>
          </a:xfrm>
          <a:prstGeom prst="roundRect">
            <a:avLst/>
          </a:prstGeom>
          <a:solidFill>
            <a:srgbClr val="21A8FF"/>
          </a:solidFill>
          <a:ln w="1270">
            <a:solidFill>
              <a:srgbClr val="21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6035040" cy="5349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69848" y="1709928"/>
            <a:ext cx="5632703" cy="4690872"/>
          </a:xfrm>
          <a:prstGeom prst="roundRect">
            <a:avLst/>
          </a:prstGeom>
          <a:solidFill>
            <a:srgbClr val="F4FBFF"/>
          </a:solidFill>
          <a:ln w="1524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" y="1563624"/>
            <a:ext cx="1417320" cy="256032"/>
          </a:xfrm>
          <a:prstGeom prst="roundRect">
            <a:avLst/>
          </a:prstGeom>
          <a:solidFill>
            <a:srgbClr val="101014"/>
          </a:solidFill>
          <a:ln w="635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163220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4FBFF"/>
                </a:solidFill>
                <a:latin typeface="Consolas"/>
              </a:rPr>
              <a:t>IMG-A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6473951"/>
            <a:ext cx="5522975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4F5963"/>
                </a:solidFill>
                <a:latin typeface="Consolas"/>
              </a:rPr>
              <a:t>主图槽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29500" y="1485900"/>
            <a:ext cx="2834640" cy="2240280"/>
          </a:xfrm>
          <a:prstGeom prst="roundRect">
            <a:avLst/>
          </a:prstGeom>
          <a:solidFill>
            <a:srgbClr val="FF4FA3"/>
          </a:solidFill>
          <a:ln w="127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60920" y="1417320"/>
            <a:ext cx="2834640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62088" y="1709928"/>
            <a:ext cx="2432304" cy="1581912"/>
          </a:xfrm>
          <a:prstGeom prst="roundRect">
            <a:avLst/>
          </a:prstGeom>
          <a:solidFill>
            <a:srgbClr val="F4FBFF"/>
          </a:solidFill>
          <a:ln w="1524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43800" y="1563624"/>
            <a:ext cx="1417320" cy="256032"/>
          </a:xfrm>
          <a:prstGeom prst="roundRect">
            <a:avLst/>
          </a:prstGeom>
          <a:solidFill>
            <a:srgbClr val="101014"/>
          </a:solidFill>
          <a:ln w="635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98664" y="163220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4FBFF"/>
                </a:solidFill>
                <a:latin typeface="Consolas"/>
              </a:rPr>
              <a:t>IMG-E1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3364992"/>
            <a:ext cx="2322576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4F5963"/>
                </a:solidFill>
                <a:latin typeface="Consolas"/>
              </a:rPr>
              <a:t>辅图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29900" y="1485900"/>
            <a:ext cx="2834640" cy="2240280"/>
          </a:xfrm>
          <a:prstGeom prst="roundRect">
            <a:avLst/>
          </a:prstGeom>
          <a:solidFill>
            <a:srgbClr val="B8F13C"/>
          </a:solidFill>
          <a:ln w="1270">
            <a:solidFill>
              <a:srgbClr val="B8F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61320" y="1417320"/>
            <a:ext cx="2834640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762488" y="1709928"/>
            <a:ext cx="2432304" cy="1581912"/>
          </a:xfrm>
          <a:prstGeom prst="roundRect">
            <a:avLst/>
          </a:prstGeom>
          <a:solidFill>
            <a:srgbClr val="F4FBFF"/>
          </a:solidFill>
          <a:ln w="1524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744200" y="1563624"/>
            <a:ext cx="1417320" cy="256032"/>
          </a:xfrm>
          <a:prstGeom prst="roundRect">
            <a:avLst/>
          </a:prstGeom>
          <a:solidFill>
            <a:srgbClr val="101014"/>
          </a:solidFill>
          <a:ln w="635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99064" y="163220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4FBFF"/>
                </a:solidFill>
                <a:latin typeface="Consolas"/>
              </a:rPr>
              <a:t>IMG-E2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17352" y="3364992"/>
            <a:ext cx="2322576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4F5963"/>
                </a:solidFill>
                <a:latin typeface="Consolas"/>
              </a:rPr>
              <a:t>辅图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29500" y="4137660"/>
            <a:ext cx="6035040" cy="2697480"/>
          </a:xfrm>
          <a:prstGeom prst="roundRect">
            <a:avLst/>
          </a:prstGeom>
          <a:solidFill>
            <a:srgbClr val="FF4FA3"/>
          </a:solidFill>
          <a:ln w="127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60920" y="4069080"/>
            <a:ext cx="6035040" cy="2697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62088" y="4361688"/>
            <a:ext cx="5632703" cy="2039112"/>
          </a:xfrm>
          <a:prstGeom prst="roundRect">
            <a:avLst/>
          </a:prstGeom>
          <a:solidFill>
            <a:srgbClr val="F4FBFF"/>
          </a:solidFill>
          <a:ln w="1524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43800" y="4215384"/>
            <a:ext cx="1417320" cy="256032"/>
          </a:xfrm>
          <a:prstGeom prst="roundRect">
            <a:avLst/>
          </a:prstGeom>
          <a:solidFill>
            <a:srgbClr val="101014"/>
          </a:solidFill>
          <a:ln w="635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98664" y="428396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4FBFF"/>
                </a:solidFill>
                <a:latin typeface="Consolas"/>
              </a:rPr>
              <a:t>IMG-B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6473952"/>
            <a:ext cx="5522975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4F5963"/>
                </a:solidFill>
                <a:latin typeface="Consolas"/>
              </a:rPr>
              <a:t>宽幅辅图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7" y="6967728"/>
            <a:ext cx="56692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00" b="0">
                <a:solidFill>
                  <a:srgbClr val="4F5963"/>
                </a:solidFill>
                <a:latin typeface="Microsoft YaHei UI"/>
              </a:rPr>
              <a:t>拼贴不是网格平均分。主图必须明确，辅图只做证据。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61320" y="6720840"/>
            <a:ext cx="3383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4F5963"/>
                </a:solidFill>
                <a:latin typeface="Microsoft YaHei UI"/>
              </a:rPr>
              <a:t>适用：案例合集 / 视觉证据 / 多图讲述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4F5963"/>
                </a:solidFill>
                <a:latin typeface="Consolas"/>
              </a:rPr>
              <a:t>C11 / MASTER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101014"/>
                </a:solidFill>
                <a:latin typeface="Arial Black"/>
              </a:rPr>
              <a:t>IP / Logo 母版页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4F5963"/>
                </a:solidFill>
                <a:latin typeface="Consolas"/>
              </a:rPr>
              <a:t>Logo 原样，IP 风格化后入槽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4F5963"/>
                </a:solidFill>
                <a:latin typeface="Consolas"/>
              </a:rPr>
              <a:t>P11 / MASTER ASSETS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74752" y="7479792"/>
            <a:ext cx="10789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4F5963"/>
                </a:solidFill>
                <a:latin typeface="Consolas"/>
              </a:rPr>
              <a:t>LOGO SLOT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59" y="1577339"/>
            <a:ext cx="4160520" cy="2331720"/>
          </a:xfrm>
          <a:prstGeom prst="roundRect">
            <a:avLst/>
          </a:prstGeom>
          <a:solidFill>
            <a:srgbClr val="21A8FF"/>
          </a:solidFill>
          <a:ln w="1270">
            <a:solidFill>
              <a:srgbClr val="21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508760"/>
            <a:ext cx="4160520" cy="2331720"/>
          </a:xfrm>
          <a:prstGeom prst="roundRect">
            <a:avLst/>
          </a:prstGeom>
          <a:solidFill>
            <a:srgbClr val="FFFFFF"/>
          </a:solidFill>
          <a:ln w="266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828800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200" b="1">
                <a:solidFill>
                  <a:srgbClr val="101014"/>
                </a:solidFill>
                <a:latin typeface="Arial Black"/>
              </a:rPr>
              <a:t>Logo：原样角标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1993392"/>
            <a:ext cx="1024128" cy="329184"/>
          </a:xfrm>
          <a:prstGeom prst="roundRect">
            <a:avLst/>
          </a:prstGeom>
          <a:solidFill>
            <a:srgbClr val="F4FBFF"/>
          </a:solidFill>
          <a:ln w="1397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103120"/>
            <a:ext cx="841248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20" b="0">
                <a:solidFill>
                  <a:srgbClr val="4F5963"/>
                </a:solidFill>
                <a:latin typeface="Consolas"/>
              </a:rPr>
              <a:t>USER LOGO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87168"/>
            <a:ext cx="3200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00" b="0">
                <a:solidFill>
                  <a:srgbClr val="4F5963"/>
                </a:solidFill>
                <a:latin typeface="Microsoft YaHei UI"/>
              </a:rPr>
              <a:t>不重绘、不改色、不套颗粒。</a:t>
            </a:r>
          </a:p>
          <a:p>
            <a:pPr algn="l"/>
            <a:r>
              <a:rPr sz="1400" b="0">
                <a:solidFill>
                  <a:srgbClr val="4F5963"/>
                </a:solidFill>
                <a:latin typeface="Microsoft YaHei UI"/>
              </a:rPr>
              <a:t>只做小尺寸固定角标。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92140" y="1577339"/>
            <a:ext cx="7726679" cy="2331720"/>
          </a:xfrm>
          <a:prstGeom prst="roundRect">
            <a:avLst/>
          </a:prstGeom>
          <a:solidFill>
            <a:srgbClr val="FF4FA3"/>
          </a:solidFill>
          <a:ln w="127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23560" y="1508760"/>
            <a:ext cx="7726679" cy="2331720"/>
          </a:xfrm>
          <a:prstGeom prst="roundRect">
            <a:avLst/>
          </a:prstGeom>
          <a:solidFill>
            <a:srgbClr val="101014"/>
          </a:solidFill>
          <a:ln w="266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25312" y="1828800"/>
            <a:ext cx="27432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IP：必须先风格化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2423160"/>
            <a:ext cx="61264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 UI"/>
              </a:rPr>
              <a:t>用户提供原图 → 确认保留特征 → 图生图转成双色老印刷 → 抠图入槽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59" y="4411980"/>
            <a:ext cx="3291840" cy="2057400"/>
          </a:xfrm>
          <a:prstGeom prst="roundRect">
            <a:avLst/>
          </a:prstGeom>
          <a:solidFill>
            <a:srgbClr val="21A8FF"/>
          </a:solidFill>
          <a:ln w="1270">
            <a:solidFill>
              <a:srgbClr val="21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4343400"/>
            <a:ext cx="329184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69848" y="4636008"/>
            <a:ext cx="2889504" cy="1399032"/>
          </a:xfrm>
          <a:prstGeom prst="roundRect">
            <a:avLst/>
          </a:prstGeom>
          <a:solidFill>
            <a:srgbClr val="F4FBFF"/>
          </a:solidFill>
          <a:ln w="1524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4489704"/>
            <a:ext cx="1417320" cy="256032"/>
          </a:xfrm>
          <a:prstGeom prst="roundRect">
            <a:avLst/>
          </a:prstGeom>
          <a:solidFill>
            <a:srgbClr val="101014"/>
          </a:solidFill>
          <a:ln w="635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" y="455828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4FBFF"/>
                </a:solidFill>
                <a:latin typeface="Consolas"/>
              </a:rPr>
              <a:t>IP-A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6108192"/>
            <a:ext cx="2779776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4F5963"/>
                </a:solidFill>
                <a:latin typeface="Consolas"/>
              </a:rPr>
              <a:t>主视觉 IP 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4860" y="4411980"/>
            <a:ext cx="2743200" cy="2057400"/>
          </a:xfrm>
          <a:prstGeom prst="roundRect">
            <a:avLst/>
          </a:prstGeom>
          <a:solidFill>
            <a:srgbClr val="FF4FA3"/>
          </a:solidFill>
          <a:ln w="127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26280" y="4343400"/>
            <a:ext cx="274320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27448" y="4636008"/>
            <a:ext cx="2340864" cy="1399032"/>
          </a:xfrm>
          <a:prstGeom prst="roundRect">
            <a:avLst/>
          </a:prstGeom>
          <a:solidFill>
            <a:srgbClr val="F4FBFF"/>
          </a:solidFill>
          <a:ln w="1524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09160" y="4489704"/>
            <a:ext cx="1417320" cy="256032"/>
          </a:xfrm>
          <a:prstGeom prst="roundRect">
            <a:avLst/>
          </a:prstGeom>
          <a:solidFill>
            <a:srgbClr val="101014"/>
          </a:solidFill>
          <a:ln w="635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64024" y="455828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4FBFF"/>
                </a:solidFill>
                <a:latin typeface="Consolas"/>
              </a:rPr>
              <a:t>IP-B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6108192"/>
            <a:ext cx="2231136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4F5963"/>
                </a:solidFill>
                <a:latin typeface="Consolas"/>
              </a:rPr>
              <a:t>旁白 IP 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03819" y="4411980"/>
            <a:ext cx="2468880" cy="2057400"/>
          </a:xfrm>
          <a:prstGeom prst="roundRect">
            <a:avLst/>
          </a:prstGeom>
          <a:solidFill>
            <a:srgbClr val="B8F13C"/>
          </a:solidFill>
          <a:ln w="1270">
            <a:solidFill>
              <a:srgbClr val="B8F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35240" y="4343400"/>
            <a:ext cx="246888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36408" y="4636008"/>
            <a:ext cx="2066544" cy="1399032"/>
          </a:xfrm>
          <a:prstGeom prst="roundRect">
            <a:avLst/>
          </a:prstGeom>
          <a:solidFill>
            <a:srgbClr val="F4FBFF"/>
          </a:solidFill>
          <a:ln w="1524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18119" y="4489704"/>
            <a:ext cx="1417320" cy="256032"/>
          </a:xfrm>
          <a:prstGeom prst="roundRect">
            <a:avLst/>
          </a:prstGeom>
          <a:solidFill>
            <a:srgbClr val="101014"/>
          </a:solidFill>
          <a:ln w="635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72983" y="455828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4FBFF"/>
                </a:solidFill>
                <a:latin typeface="Consolas"/>
              </a:rPr>
              <a:t>IP-C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91271" y="6108192"/>
            <a:ext cx="1956816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4F5963"/>
                </a:solidFill>
                <a:latin typeface="Consolas"/>
              </a:rPr>
              <a:t>动作 IP 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38459" y="4411980"/>
            <a:ext cx="2834640" cy="2057400"/>
          </a:xfrm>
          <a:prstGeom prst="roundRect">
            <a:avLst/>
          </a:prstGeom>
          <a:solidFill>
            <a:srgbClr val="101014"/>
          </a:solidFill>
          <a:ln w="12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469880" y="4343400"/>
            <a:ext cx="283464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671048" y="4636008"/>
            <a:ext cx="2432304" cy="1399032"/>
          </a:xfrm>
          <a:prstGeom prst="roundRect">
            <a:avLst/>
          </a:prstGeom>
          <a:solidFill>
            <a:srgbClr val="F4FBFF"/>
          </a:solidFill>
          <a:ln w="1524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652759" y="4489704"/>
            <a:ext cx="1417320" cy="256032"/>
          </a:xfrm>
          <a:prstGeom prst="roundRect">
            <a:avLst/>
          </a:prstGeom>
          <a:solidFill>
            <a:srgbClr val="101014"/>
          </a:solidFill>
          <a:ln w="635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07624" y="455828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4FBFF"/>
                </a:solidFill>
                <a:latin typeface="Consolas"/>
              </a:rPr>
              <a:t>IP-D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25911" y="6108192"/>
            <a:ext cx="2322576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4F5963"/>
                </a:solidFill>
                <a:latin typeface="Consolas"/>
              </a:rPr>
              <a:t>流程小图标槽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61320" y="6720840"/>
            <a:ext cx="3383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4F5963"/>
                </a:solidFill>
                <a:latin typeface="Microsoft YaHei UI"/>
              </a:rPr>
              <a:t>适用：品牌母版 / 角色资产 / 统一出图规则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4F5963"/>
                </a:solidFill>
                <a:latin typeface="Consolas"/>
              </a:rPr>
              <a:t>C12 / IMAGE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101014"/>
                </a:solidFill>
                <a:latin typeface="Arial Black"/>
              </a:rPr>
              <a:t>出图资产页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4F5963"/>
                </a:solidFill>
                <a:latin typeface="Consolas"/>
              </a:rPr>
              <a:t>把生图变成可控页面元素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4F5963"/>
                </a:solidFill>
                <a:latin typeface="Consolas"/>
              </a:rPr>
              <a:t>P12 / IMAGE ASSETS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74752" y="7479792"/>
            <a:ext cx="10789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4F5963"/>
                </a:solidFill>
                <a:latin typeface="Consolas"/>
              </a:rPr>
              <a:t>LOGO SLOT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566928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86000"/>
              </a:lnSpc>
            </a:pPr>
            <a:r>
              <a:rPr sz="3700" b="1">
                <a:solidFill>
                  <a:srgbClr val="101014"/>
                </a:solidFill>
                <a:latin typeface="Arial Black"/>
              </a:rPr>
              <a:t>出图不是自由发挥</a:t>
            </a:r>
          </a:p>
          <a:p>
            <a:pPr algn="l">
              <a:lnSpc>
                <a:spcPct val="86000"/>
              </a:lnSpc>
            </a:pPr>
            <a:r>
              <a:rPr sz="3700" b="1">
                <a:solidFill>
                  <a:srgbClr val="101014"/>
                </a:solidFill>
                <a:latin typeface="Arial Black"/>
              </a:rPr>
              <a:t>而是进入槽位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530352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0">
                <a:solidFill>
                  <a:srgbClr val="4F5963"/>
                </a:solidFill>
                <a:latin typeface="Microsoft YaHei UI"/>
              </a:rPr>
              <a:t>每张图都要先确定：用途、比例、是否抠图、是否需要图生图统一风格。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3704" y="1663065"/>
            <a:ext cx="2697480" cy="1508760"/>
          </a:xfrm>
          <a:prstGeom prst="roundRect">
            <a:avLst/>
          </a:prstGeom>
          <a:solidFill>
            <a:srgbClr val="21A8FF"/>
          </a:solidFill>
          <a:ln w="1270">
            <a:solidFill>
              <a:srgbClr val="21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20840" y="1600200"/>
            <a:ext cx="26974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22007" y="1801368"/>
            <a:ext cx="475488" cy="475488"/>
          </a:xfrm>
          <a:prstGeom prst="roundRect">
            <a:avLst/>
          </a:prstGeom>
          <a:solidFill>
            <a:srgbClr val="21A8FF"/>
          </a:solidFill>
          <a:ln w="1651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4303" y="1911095"/>
            <a:ext cx="310896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1874519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600" b="1">
                <a:solidFill>
                  <a:srgbClr val="101014"/>
                </a:solidFill>
                <a:latin typeface="Arial Black"/>
              </a:rPr>
              <a:t>原图输入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59" y="2441448"/>
            <a:ext cx="2148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200" b="0">
                <a:solidFill>
                  <a:srgbClr val="4F5963"/>
                </a:solidFill>
                <a:latin typeface="Microsoft YaHei UI"/>
              </a:rPr>
              <a:t>用户图 / 素材图 / 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38385" y="1663065"/>
            <a:ext cx="2697480" cy="1508760"/>
          </a:xfrm>
          <a:prstGeom prst="roundRect">
            <a:avLst/>
          </a:prstGeom>
          <a:solidFill>
            <a:srgbClr val="FF4FA3"/>
          </a:solidFill>
          <a:ln w="127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0" y="1600200"/>
            <a:ext cx="26974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76688" y="1801368"/>
            <a:ext cx="475488" cy="475488"/>
          </a:xfrm>
          <a:prstGeom prst="roundRect">
            <a:avLst/>
          </a:prstGeom>
          <a:solidFill>
            <a:srgbClr val="FF4FA3"/>
          </a:solidFill>
          <a:ln w="1651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58984" y="1911095"/>
            <a:ext cx="310896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 Black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16768" y="1874519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600" b="1">
                <a:solidFill>
                  <a:srgbClr val="101014"/>
                </a:solidFill>
                <a:latin typeface="Arial Black"/>
              </a:rPr>
              <a:t>风格化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2441448"/>
            <a:ext cx="2148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200" b="0">
                <a:solidFill>
                  <a:srgbClr val="4F5963"/>
                </a:solidFill>
                <a:latin typeface="Microsoft YaHei UI"/>
              </a:rPr>
              <a:t>双色、纸感、网点、错位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83704" y="3903345"/>
            <a:ext cx="2697480" cy="1508760"/>
          </a:xfrm>
          <a:prstGeom prst="roundRect">
            <a:avLst/>
          </a:prstGeom>
          <a:solidFill>
            <a:srgbClr val="B8F13C"/>
          </a:solidFill>
          <a:ln w="1270">
            <a:solidFill>
              <a:srgbClr val="B8F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20840" y="3840480"/>
            <a:ext cx="26974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22007" y="4041648"/>
            <a:ext cx="475488" cy="475488"/>
          </a:xfrm>
          <a:prstGeom prst="roundRect">
            <a:avLst/>
          </a:prstGeom>
          <a:solidFill>
            <a:srgbClr val="B8F13C"/>
          </a:solidFill>
          <a:ln w="1651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4303" y="4151376"/>
            <a:ext cx="310896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101014"/>
                </a:solidFill>
                <a:latin typeface="Arial Black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8" y="411480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600" b="1">
                <a:solidFill>
                  <a:srgbClr val="101014"/>
                </a:solidFill>
                <a:latin typeface="Arial Black"/>
              </a:rPr>
              <a:t>抠图裁切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4681728"/>
            <a:ext cx="2148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200" b="0">
                <a:solidFill>
                  <a:srgbClr val="4F5963"/>
                </a:solidFill>
                <a:latin typeface="Microsoft YaHei UI"/>
              </a:rPr>
              <a:t>透明 PNG / 固定比例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38385" y="3903345"/>
            <a:ext cx="2697480" cy="1508760"/>
          </a:xfrm>
          <a:prstGeom prst="roundRect">
            <a:avLst/>
          </a:prstGeom>
          <a:solidFill>
            <a:srgbClr val="101014"/>
          </a:solidFill>
          <a:ln w="127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875520" y="3840480"/>
            <a:ext cx="26974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76688" y="4041648"/>
            <a:ext cx="475488" cy="475488"/>
          </a:xfrm>
          <a:prstGeom prst="roundRect">
            <a:avLst/>
          </a:prstGeom>
          <a:solidFill>
            <a:srgbClr val="101014"/>
          </a:solidFill>
          <a:ln w="1651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8984" y="4151376"/>
            <a:ext cx="310896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 Black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16768" y="411480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600" b="1">
                <a:solidFill>
                  <a:srgbClr val="101014"/>
                </a:solidFill>
                <a:latin typeface="Arial Black"/>
              </a:rPr>
              <a:t>进入槽位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4681728"/>
            <a:ext cx="2148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200" b="0">
                <a:solidFill>
                  <a:srgbClr val="4F5963"/>
                </a:solidFill>
                <a:latin typeface="Microsoft YaHei UI"/>
              </a:rPr>
              <a:t>A/B/C/D/E 图片容器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" y="4960620"/>
            <a:ext cx="5349240" cy="1371600"/>
          </a:xfrm>
          <a:prstGeom prst="roundRect">
            <a:avLst/>
          </a:prstGeom>
          <a:solidFill>
            <a:srgbClr val="FF4FA3"/>
          </a:solidFill>
          <a:ln w="127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" y="4892040"/>
            <a:ext cx="5349240" cy="1371600"/>
          </a:xfrm>
          <a:prstGeom prst="roundRect">
            <a:avLst/>
          </a:prstGeom>
          <a:solidFill>
            <a:srgbClr val="101014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5349240"/>
            <a:ext cx="4663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550" b="0">
                <a:solidFill>
                  <a:srgbClr val="FFFFFF"/>
                </a:solidFill>
                <a:latin typeface="Microsoft YaHei UI"/>
              </a:rPr>
              <a:t>运行时必须问：有没有 logo？有没有 IP？是否允许风格化和抠图？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61320" y="6720840"/>
            <a:ext cx="3383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4F5963"/>
                </a:solidFill>
                <a:latin typeface="Microsoft YaHei UI"/>
              </a:rPr>
              <a:t>适用：出图任务 / 图生图 / 图片资产收口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4F5963"/>
                </a:solidFill>
                <a:latin typeface="Consolas"/>
              </a:rPr>
              <a:t>C13 / CARD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101014"/>
                </a:solidFill>
                <a:latin typeface="Arial Black"/>
              </a:rPr>
              <a:t>并列卡片组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4F5963"/>
                </a:solidFill>
                <a:latin typeface="Consolas"/>
              </a:rPr>
              <a:t>同字段 / 同权重 / 无方向关系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4F5963"/>
                </a:solidFill>
                <a:latin typeface="Consolas"/>
              </a:rPr>
              <a:t>P13 / CARD GROUP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74752" y="7479792"/>
            <a:ext cx="10789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59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4F5963"/>
                </a:solidFill>
                <a:latin typeface="Consolas"/>
              </a:rPr>
              <a:t>LOGO SLOT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89888"/>
            <a:ext cx="6583680" cy="6583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400" b="1">
                <a:solidFill>
                  <a:srgbClr val="101014"/>
                </a:solidFill>
                <a:latin typeface="Arial Black"/>
              </a:rPr>
              <a:t>卡片只表达并列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76272"/>
            <a:ext cx="6583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0">
                <a:solidFill>
                  <a:srgbClr val="4F5963"/>
                </a:solidFill>
                <a:latin typeface="Microsoft YaHei UI"/>
              </a:rPr>
              <a:t>没有箭头、主轴、闭环或父子关系。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4415" y="2982087"/>
            <a:ext cx="3611880" cy="2743200"/>
          </a:xfrm>
          <a:prstGeom prst="roundRect">
            <a:avLst/>
          </a:prstGeom>
          <a:solidFill>
            <a:srgbClr val="21A8FF"/>
          </a:solidFill>
          <a:ln w="1270">
            <a:solidFill>
              <a:srgbClr val="21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2907792"/>
            <a:ext cx="361188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6152" y="3236976"/>
            <a:ext cx="8412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000" b="1">
                <a:solidFill>
                  <a:srgbClr val="101014"/>
                </a:solidFill>
                <a:latin typeface="Arial Black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3886200"/>
            <a:ext cx="960120" cy="45720"/>
          </a:xfrm>
          <a:prstGeom prst="roundRect">
            <a:avLst/>
          </a:prstGeom>
          <a:solidFill>
            <a:srgbClr val="21A8FF"/>
          </a:solidFill>
          <a:ln w="1270">
            <a:solidFill>
              <a:srgbClr val="21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4242816"/>
            <a:ext cx="26517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200" b="1">
                <a:solidFill>
                  <a:srgbClr val="101014"/>
                </a:solidFill>
                <a:latin typeface="Arial Black"/>
              </a:rPr>
              <a:t>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" y="4882896"/>
            <a:ext cx="28346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50" b="0">
                <a:solidFill>
                  <a:srgbClr val="4F5963"/>
                </a:solidFill>
                <a:latin typeface="Microsoft YaHei UI"/>
              </a:rPr>
              <a:t>锁定页数和可见文字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5247" y="2982087"/>
            <a:ext cx="3611880" cy="2743200"/>
          </a:xfrm>
          <a:prstGeom prst="roundRect">
            <a:avLst/>
          </a:prstGeom>
          <a:solidFill>
            <a:srgbClr val="FF4FA3"/>
          </a:solidFill>
          <a:ln w="127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30952" y="2907792"/>
            <a:ext cx="361188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86984" y="3236976"/>
            <a:ext cx="8412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000" b="1">
                <a:solidFill>
                  <a:srgbClr val="101014"/>
                </a:solidFill>
                <a:latin typeface="Arial Black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5272" y="3886200"/>
            <a:ext cx="960120" cy="45720"/>
          </a:xfrm>
          <a:prstGeom prst="roundRect">
            <a:avLst/>
          </a:prstGeom>
          <a:solidFill>
            <a:srgbClr val="FF4FA3"/>
          </a:solidFill>
          <a:ln w="127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4242816"/>
            <a:ext cx="26517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200" b="1">
                <a:solidFill>
                  <a:srgbClr val="101014"/>
                </a:solidFill>
                <a:latin typeface="Arial Black"/>
              </a:rPr>
              <a:t>形式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848" y="4882896"/>
            <a:ext cx="28346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50" b="0">
                <a:solidFill>
                  <a:srgbClr val="4F5963"/>
                </a:solidFill>
                <a:latin typeface="Microsoft YaHei UI"/>
              </a:rPr>
              <a:t>确认页面任务和变体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76079" y="2982087"/>
            <a:ext cx="3611880" cy="2743200"/>
          </a:xfrm>
          <a:prstGeom prst="roundRect">
            <a:avLst/>
          </a:prstGeom>
          <a:solidFill>
            <a:srgbClr val="B8F13C"/>
          </a:solidFill>
          <a:ln w="1270">
            <a:solidFill>
              <a:srgbClr val="B8F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01784" y="2907792"/>
            <a:ext cx="361188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57816" y="3236976"/>
            <a:ext cx="8412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000" b="1">
                <a:solidFill>
                  <a:srgbClr val="101014"/>
                </a:solidFill>
                <a:latin typeface="Arial Black"/>
              </a:rPr>
              <a:t>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76104" y="3886200"/>
            <a:ext cx="960120" cy="45720"/>
          </a:xfrm>
          <a:prstGeom prst="roundRect">
            <a:avLst/>
          </a:prstGeom>
          <a:solidFill>
            <a:srgbClr val="B8F13C"/>
          </a:solidFill>
          <a:ln w="1270">
            <a:solidFill>
              <a:srgbClr val="B8F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94392" y="4242816"/>
            <a:ext cx="26517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200" b="1">
                <a:solidFill>
                  <a:srgbClr val="101014"/>
                </a:solidFill>
                <a:latin typeface="Arial Black"/>
              </a:rPr>
              <a:t>资产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4882896"/>
            <a:ext cx="28346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50" b="0">
                <a:solidFill>
                  <a:srgbClr val="4F5963"/>
                </a:solidFill>
                <a:latin typeface="Microsoft YaHei UI"/>
              </a:rPr>
              <a:t>确认截图、插图和数据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61320" y="6720840"/>
            <a:ext cx="3383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4F5963"/>
                </a:solidFill>
                <a:latin typeface="Microsoft YaHei UI"/>
              </a:rPr>
              <a:t>适用：并列模块 / 案例 / 角色 / 交付物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